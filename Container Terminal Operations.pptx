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e906406514132" /><Relationship Type="http://schemas.openxmlformats.org/officeDocument/2006/relationships/extended-properties" Target="/docProps/app.xml" Id="R9abc5f7b92a64e96" /><Relationship Type="http://schemas.openxmlformats.org/officeDocument/2006/relationships/officeDocument" Target="/ppt/presentation.xml" Id="Rde9ffd38712e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306daf4b0452c"/>
  </p:sldMasterIdLst>
  <p:notesMasterIdLst>
    <p:notesMasterId xmlns:r="http://schemas.openxmlformats.org/officeDocument/2006/relationships" r:id="Re8501adc4c624f21"/>
  </p:notesMasterIdLst>
  <p:sldIdLst>
    <p:sldId xmlns:r="http://schemas.openxmlformats.org/officeDocument/2006/relationships" id="256" r:id="R6c818611b0a74865"/>
    <p:sldId xmlns:r="http://schemas.openxmlformats.org/officeDocument/2006/relationships" id="257" r:id="R82a48c60ef75442e"/>
    <p:sldId xmlns:r="http://schemas.openxmlformats.org/officeDocument/2006/relationships" id="258" r:id="R197c6d4e866f4890"/>
    <p:sldId xmlns:r="http://schemas.openxmlformats.org/officeDocument/2006/relationships" id="259" r:id="R0faffde979814923"/>
    <p:sldId xmlns:r="http://schemas.openxmlformats.org/officeDocument/2006/relationships" id="260" r:id="R8f46d5892a934660"/>
    <p:sldId xmlns:r="http://schemas.openxmlformats.org/officeDocument/2006/relationships" id="261" r:id="Rd094d10f46a6405f"/>
    <p:sldId xmlns:r="http://schemas.openxmlformats.org/officeDocument/2006/relationships" id="262" r:id="R599285b179ef412c"/>
    <p:sldId xmlns:r="http://schemas.openxmlformats.org/officeDocument/2006/relationships" id="263" r:id="R3f8d7bd5456a4dae"/>
    <p:sldId xmlns:r="http://schemas.openxmlformats.org/officeDocument/2006/relationships" id="264" r:id="R809e62b075b447ad"/>
    <p:sldId xmlns:r="http://schemas.openxmlformats.org/officeDocument/2006/relationships" id="265" r:id="Rf87d2e32c1854c64"/>
    <p:sldId xmlns:r="http://schemas.openxmlformats.org/officeDocument/2006/relationships" id="266" r:id="R6d060fe1d23b45cd"/>
    <p:sldId xmlns:r="http://schemas.openxmlformats.org/officeDocument/2006/relationships" id="267" r:id="Rb0cbb29c8255424f"/>
    <p:sldId xmlns:r="http://schemas.openxmlformats.org/officeDocument/2006/relationships" id="268" r:id="R13903147b63d4c6a"/>
    <p:sldId xmlns:r="http://schemas.openxmlformats.org/officeDocument/2006/relationships" id="269" r:id="R73cdf0be7aba41b8"/>
    <p:sldId xmlns:r="http://schemas.openxmlformats.org/officeDocument/2006/relationships" id="270" r:id="R179965bbacee4eac"/>
    <p:sldId xmlns:r="http://schemas.openxmlformats.org/officeDocument/2006/relationships" id="271" r:id="Rd676f0cbefbc47cc"/>
    <p:sldId xmlns:r="http://schemas.openxmlformats.org/officeDocument/2006/relationships" id="272" r:id="R98094610eeac46fd"/>
    <p:sldId xmlns:r="http://schemas.openxmlformats.org/officeDocument/2006/relationships" id="273" r:id="R1c91348cebe444f0"/>
    <p:sldId xmlns:r="http://schemas.openxmlformats.org/officeDocument/2006/relationships" id="274" r:id="Re6e543c3b6574cad"/>
    <p:sldId xmlns:r="http://schemas.openxmlformats.org/officeDocument/2006/relationships" id="275" r:id="Rabb749f073864e69"/>
    <p:sldId xmlns:r="http://schemas.openxmlformats.org/officeDocument/2006/relationships" id="276" r:id="R3bc832a521c048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168e4e4254b05" /><Relationship Type="http://schemas.openxmlformats.org/officeDocument/2006/relationships/slideMaster" Target="/ppt/slideMasters/slideMaster1.xml" Id="Rbd1306daf4b0452c" /><Relationship Type="http://schemas.openxmlformats.org/officeDocument/2006/relationships/notesMaster" Target="/ppt/notesMasters/notesMaster1.xml" Id="Re8501adc4c624f21" /><Relationship Type="http://schemas.openxmlformats.org/officeDocument/2006/relationships/presProps" Target="/ppt/presProps.xml" Id="R22d34d016aec421b" /><Relationship Type="http://schemas.openxmlformats.org/officeDocument/2006/relationships/tableStyles" Target="/ppt/tableStyles.xml" Id="R7e501bca080344bd" /><Relationship Type="http://schemas.openxmlformats.org/officeDocument/2006/relationships/slide" Target="/ppt/slides/slide1.xml" Id="R6c818611b0a74865" /><Relationship Type="http://schemas.openxmlformats.org/officeDocument/2006/relationships/slide" Target="/ppt/slides/slide2.xml" Id="R82a48c60ef75442e" /><Relationship Type="http://schemas.openxmlformats.org/officeDocument/2006/relationships/slide" Target="/ppt/slides/slide3.xml" Id="R197c6d4e866f4890" /><Relationship Type="http://schemas.openxmlformats.org/officeDocument/2006/relationships/slide" Target="/ppt/slides/slide4.xml" Id="R0faffde979814923" /><Relationship Type="http://schemas.openxmlformats.org/officeDocument/2006/relationships/slide" Target="/ppt/slides/slide5.xml" Id="R8f46d5892a934660" /><Relationship Type="http://schemas.openxmlformats.org/officeDocument/2006/relationships/slide" Target="/ppt/slides/slide6.xml" Id="Rd094d10f46a6405f" /><Relationship Type="http://schemas.openxmlformats.org/officeDocument/2006/relationships/slide" Target="/ppt/slides/slide7.xml" Id="R599285b179ef412c" /><Relationship Type="http://schemas.openxmlformats.org/officeDocument/2006/relationships/slide" Target="/ppt/slides/slide8.xml" Id="R3f8d7bd5456a4dae" /><Relationship Type="http://schemas.openxmlformats.org/officeDocument/2006/relationships/slide" Target="/ppt/slides/slide9.xml" Id="R809e62b075b447ad" /><Relationship Type="http://schemas.openxmlformats.org/officeDocument/2006/relationships/slide" Target="/ppt/slides/slide10.xml" Id="Rf87d2e32c1854c64" /><Relationship Type="http://schemas.openxmlformats.org/officeDocument/2006/relationships/slide" Target="/ppt/slides/slide11.xml" Id="R6d060fe1d23b45cd" /><Relationship Type="http://schemas.openxmlformats.org/officeDocument/2006/relationships/slide" Target="/ppt/slides/slide12.xml" Id="Rb0cbb29c8255424f" /><Relationship Type="http://schemas.openxmlformats.org/officeDocument/2006/relationships/slide" Target="/ppt/slides/slide13.xml" Id="R13903147b63d4c6a" /><Relationship Type="http://schemas.openxmlformats.org/officeDocument/2006/relationships/slide" Target="/ppt/slides/slide14.xml" Id="R73cdf0be7aba41b8" /><Relationship Type="http://schemas.openxmlformats.org/officeDocument/2006/relationships/slide" Target="/ppt/slides/slide15.xml" Id="R179965bbacee4eac" /><Relationship Type="http://schemas.openxmlformats.org/officeDocument/2006/relationships/slide" Target="/ppt/slides/slide16.xml" Id="Rd676f0cbefbc47cc" /><Relationship Type="http://schemas.openxmlformats.org/officeDocument/2006/relationships/slide" Target="/ppt/slides/slide17.xml" Id="R98094610eeac46fd" /><Relationship Type="http://schemas.openxmlformats.org/officeDocument/2006/relationships/slide" Target="/ppt/slides/slide18.xml" Id="R1c91348cebe444f0" /><Relationship Type="http://schemas.openxmlformats.org/officeDocument/2006/relationships/slide" Target="/ppt/slides/slide19.xml" Id="Re6e543c3b6574cad" /><Relationship Type="http://schemas.openxmlformats.org/officeDocument/2006/relationships/slide" Target="/ppt/slides/slide20.xml" Id="Rabb749f073864e69" /><Relationship Type="http://schemas.openxmlformats.org/officeDocument/2006/relationships/slide" Target="/ppt/slides/slide21.xml" Id="R3bc832a521c048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be9b28b3e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708c6ff337460f" /><Relationship Type="http://schemas.openxmlformats.org/officeDocument/2006/relationships/notesMaster" Target="/ppt/notesMasters/notesMaster1.xml" Id="R341058c48cef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566a99d7d7419c" /><Relationship Type="http://schemas.openxmlformats.org/officeDocument/2006/relationships/notesMaster" Target="/ppt/notesMasters/notesMaster1.xml" Id="Rcf3cf17eb9ac47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b5333673714f9e" /><Relationship Type="http://schemas.openxmlformats.org/officeDocument/2006/relationships/notesMaster" Target="/ppt/notesMasters/notesMaster1.xml" Id="Rae2ea9235f024b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8bc9230dfd4c43" /><Relationship Type="http://schemas.openxmlformats.org/officeDocument/2006/relationships/notesMaster" Target="/ppt/notesMasters/notesMaster1.xml" Id="R7357d1a9d62347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3989c948154007" /><Relationship Type="http://schemas.openxmlformats.org/officeDocument/2006/relationships/notesMaster" Target="/ppt/notesMasters/notesMaster1.xml" Id="Rd68a608564274c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2534a64de3404e" /><Relationship Type="http://schemas.openxmlformats.org/officeDocument/2006/relationships/notesMaster" Target="/ppt/notesMasters/notesMaster1.xml" Id="Rba47bcdf3bde4f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752853f2a343d0" /><Relationship Type="http://schemas.openxmlformats.org/officeDocument/2006/relationships/notesMaster" Target="/ppt/notesMasters/notesMaster1.xml" Id="Rb4399b7959e54f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7eb6c352114c91" /><Relationship Type="http://schemas.openxmlformats.org/officeDocument/2006/relationships/notesMaster" Target="/ppt/notesMasters/notesMaster1.xml" Id="R52c51354ed5d46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56cca8ab6f4dc8" /><Relationship Type="http://schemas.openxmlformats.org/officeDocument/2006/relationships/notesMaster" Target="/ppt/notesMasters/notesMaster1.xml" Id="R8032e16a5e4441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7fa34ecf6b4ad0" /><Relationship Type="http://schemas.openxmlformats.org/officeDocument/2006/relationships/notesMaster" Target="/ppt/notesMasters/notesMaster1.xml" Id="R9a74fa850ebd48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8634c507ac4346" /><Relationship Type="http://schemas.openxmlformats.org/officeDocument/2006/relationships/notesMaster" Target="/ppt/notesMasters/notesMaster1.xml" Id="R19d5b9c146fc41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3e0fe1a05d434c" /><Relationship Type="http://schemas.openxmlformats.org/officeDocument/2006/relationships/notesMaster" Target="/ppt/notesMasters/notesMaster1.xml" Id="R3848810dd90642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1c4fd323c14a23" /><Relationship Type="http://schemas.openxmlformats.org/officeDocument/2006/relationships/notesMaster" Target="/ppt/notesMasters/notesMaster1.xml" Id="Ra7c652cae47c47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ec1dcd3c68466b" /><Relationship Type="http://schemas.openxmlformats.org/officeDocument/2006/relationships/notesMaster" Target="/ppt/notesMasters/notesMaster1.xml" Id="R85942538e4104b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199a63a5c04d74" /><Relationship Type="http://schemas.openxmlformats.org/officeDocument/2006/relationships/notesMaster" Target="/ppt/notesMasters/notesMaster1.xml" Id="R16f9ca54f7e84f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ff98413fa74f4b" /><Relationship Type="http://schemas.openxmlformats.org/officeDocument/2006/relationships/notesMaster" Target="/ppt/notesMasters/notesMaster1.xml" Id="R224752d1c5a14e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edc4bc7c9f4cba" /><Relationship Type="http://schemas.openxmlformats.org/officeDocument/2006/relationships/notesMaster" Target="/ppt/notesMasters/notesMaster1.xml" Id="R9c2a2ef650a64f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37f1fbc2d443a8" /><Relationship Type="http://schemas.openxmlformats.org/officeDocument/2006/relationships/notesMaster" Target="/ppt/notesMasters/notesMaster1.xml" Id="R520761c6327b46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43a42357e94d0b" /><Relationship Type="http://schemas.openxmlformats.org/officeDocument/2006/relationships/notesMaster" Target="/ppt/notesMasters/notesMaster1.xml" Id="R780fbe9098d043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9e01ad56bf460f" /><Relationship Type="http://schemas.openxmlformats.org/officeDocument/2006/relationships/notesMaster" Target="/ppt/notesMasters/notesMaster1.xml" Id="R1279dd853e0c4b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2935525b6448d4" /><Relationship Type="http://schemas.openxmlformats.org/officeDocument/2006/relationships/notesMaster" Target="/ppt/notesMasters/notesMaster1.xml" Id="R174356a2a07d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Open with the project promise: operational records become a governed decision-support system.</a:t>
            </a:r>
          </a:p>
          <a:p xmlns:a="http://schemas.openxmlformats.org/drawingml/2006/main">
            <a:r>
              <a:t>• Frame the comparison as Q1 2025 versus Q1 2026 and keep the focus on what the supplied data can support.</a:t>
            </a:r>
          </a:p>
          <a:p xmlns:a="http://schemas.openxmlformats.org/drawingml/2006/main">
            <a:r>
              <a:t>• Set expectations for a case-study narrative: preparation, validation, insight, and management action.</a:t>
            </a:r>
          </a:p>
          <a:p xmlns:a="http://schemas.openxmlformats.org/drawingml/2006/main">
            <a:r>
              <a:t>Transition: Introduce the team that built the analytical system.</a:t>
            </a:r>
          </a:p>
          <a:p xmlns:a="http://schemas.openxmlformats.org/drawingml/2006/main">
            <a:r>
              <a:t>Presenter caution: Do not introduce external terminal benchmarks, capacity figures, or causal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project brief and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Present the seven contributors exactly as listed, without assigning invented roles.</a:t>
            </a:r>
          </a:p>
          <a:p xmlns:a="http://schemas.openxmlformats.org/drawingml/2006/main">
            <a:r>
              <a:t>• Emphasize that the work connects source interpretation, preparation, modeling, validation, and storytelling.</a:t>
            </a:r>
          </a:p>
          <a:p xmlns:a="http://schemas.openxmlformats.org/drawingml/2006/main">
            <a:r>
              <a:t>• Use the team slide briefly; the next slide moves immediately into the data challenge.</a:t>
            </a:r>
          </a:p>
          <a:p xmlns:a="http://schemas.openxmlformats.org/drawingml/2006/main">
            <a:r>
              <a:t>Transition: Explain why understanding field language was the first analytical task.</a:t>
            </a:r>
          </a:p>
          <a:p xmlns:a="http://schemas.openxmlformats.org/drawingml/2006/main">
            <a:r>
              <a:t>Presenter caution: Do not attribute individual workstreams or responsibilities unless the team confirms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project brief: required team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Explain that the data dictionary was a control layer, not a glossary for its own sake.</a:t>
            </a:r>
          </a:p>
          <a:p xmlns:a="http://schemas.openxmlformats.org/drawingml/2006/main">
            <a:r>
              <a:t>• Clarify examples: ATA is arrival, ATB is berthing, ATD is departure; OPR refers to the container operator while vessel Operator is a separate concept.</a:t>
            </a:r>
          </a:p>
          <a:p xmlns:a="http://schemas.openxmlformats.org/drawingml/2006/main">
            <a:r>
              <a:t>• Point out that POL and POD define the connectivity network and equipment fields identify loading or discharging resources.</a:t>
            </a:r>
          </a:p>
          <a:p xmlns:a="http://schemas.openxmlformats.org/drawingml/2006/main">
            <a:r>
              <a:t>• The field inventory contained 97 rows; the slide groups them into six operational themes for clarity.</a:t>
            </a:r>
          </a:p>
          <a:p xmlns:a="http://schemas.openxmlformats.org/drawingml/2006/main">
            <a:r>
              <a:t>Transition: Show how the field definitions were converted into a repeatable preparation pipeline.</a:t>
            </a:r>
          </a:p>
          <a:p xmlns:a="http://schemas.openxmlformats.org/drawingml/2006/main">
            <a:r>
              <a:t>Presenter caution: Do not reproduce all dictionary rows or mix vessel operator with container operator.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Container Terminal_Data Dictionary.xlsx, Data Dictionary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Walk left to right through the production path: raw Excel and references, Power Query, semantic model, DAX, and dashboards.</a:t>
            </a:r>
          </a:p>
          <a:p xmlns:a="http://schemas.openxmlformats.org/drawingml/2006/main">
            <a:r>
              <a:t>• Call out concrete Power Query work: explicit types, consistent renaming, Trim/Clean, blank-row removal, SourceRowKey, UnitCount, CompletedDwellDays, and status fields.</a:t>
            </a:r>
          </a:p>
          <a:p xmlns:a="http://schemas.openxmlformats.org/drawingml/2006/main">
            <a:r>
              <a:t>• Position SQL as structural and exploratory support: keys, type alignment, ERD checks, joins, CTEs, and window functions.</a:t>
            </a:r>
          </a:p>
          <a:p xmlns:a="http://schemas.openxmlformats.org/drawingml/2006/main">
            <a:r>
              <a:t>• Position Python as supplementary workbook QA only, not the production source for Power BI.</a:t>
            </a:r>
          </a:p>
          <a:p xmlns:a="http://schemas.openxmlformats.org/drawingml/2006/main">
            <a:r>
              <a:t>Transition: Move from preparation steps to the architecture and validation controls that made the KPIs trustworthy.</a:t>
            </a:r>
          </a:p>
          <a:p xmlns:a="http://schemas.openxmlformats.org/drawingml/2006/main">
            <a:r>
              <a:t>Presenter caution: Do not claim the Python script fed the production model; the supplied Python file is empty and only the documented safe QA role is shown.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Project.docx, Power Query Advanced Editor exports.</a:t>
            </a:r>
          </a:p>
          <a:p xmlns:a="http://schemas.openxmlformats.org/drawingml/2006/main">
            <a:r>
              <a:t>- Container_Terminal_Analytics_Final_Documentation.docx, Sections 3-6.</a:t>
            </a:r>
          </a:p>
          <a:p xmlns:a="http://schemas.openxmlformats.org/drawingml/2006/main">
            <a:r>
              <a:t>- SQL report.docx and final port analysis - Copy.sql.</a:t>
            </a:r>
          </a:p>
          <a:p xmlns:a="http://schemas.openxmlformats.org/drawingml/2006/main">
            <a:r>
              <a:t>- User-supplied governing brief for Python QA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Start with the simplified view: three facts at three distinct grains, connected through shared dimensions.</a:t>
            </a:r>
          </a:p>
          <a:p xmlns:a="http://schemas.openxmlformats.org/drawingml/2006/main">
            <a:r>
              <a:t>• State each grain explicitly: a container operation, a vessel-call by equipment group, and a vessel call.</a:t>
            </a:r>
          </a:p>
          <a:p xmlns:a="http://schemas.openxmlformats.org/drawingml/2006/main">
            <a:r>
              <a:t>• Use the actual model crop as evidence that the simplified architecture reflects a real semantic model.</a:t>
            </a:r>
          </a:p>
          <a:p xmlns:a="http://schemas.openxmlformats.org/drawingml/2006/main">
            <a:r>
              <a:t>• Highlight the governance principle: invalid date sequences, inconsistent QC hours, unmatched references, and weight issues were tagged before measure use.</a:t>
            </a:r>
          </a:p>
          <a:p xmlns:a="http://schemas.openxmlformats.org/drawingml/2006/main">
            <a:r>
              <a:t>Transition: With the trustworthy model established, introduce the central operational question.</a:t>
            </a:r>
          </a:p>
          <a:p xmlns:a="http://schemas.openxmlformats.org/drawingml/2006/main">
            <a:r>
              <a:t>Presenter caution: Do not imply direct fact-to-fact joins or average across mixed grains without aggregation.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PowerBi_Pres.pdf, page 11, Final Semantic Model.</a:t>
            </a:r>
          </a:p>
          <a:p xmlns:a="http://schemas.openxmlformats.org/drawingml/2006/main">
            <a:r>
              <a:t>- Project.docx, FactContainerOperations, FactQCPerformance, and FactVesselPortCalls Power Query definitions.</a:t>
            </a:r>
          </a:p>
          <a:p xmlns:a="http://schemas.openxmlformats.org/drawingml/2006/main">
            <a:r>
              <a:t>- Container_Terminal_Analytics_Final_Documentation.docx, Sections 4-5.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Pose the central question exactly: how efficiently the terminal converts calls and moves into throughput, and where time is lost.</a:t>
            </a:r>
          </a:p>
          <a:p xmlns:a="http://schemas.openxmlformats.org/drawingml/2006/main">
            <a:r>
              <a:t>• Introduce the four lenses that structure the rest of the story: volume and flow, efficiency, risk and data quality, and connectivity.</a:t>
            </a:r>
          </a:p>
          <a:p xmlns:a="http://schemas.openxmlformats.org/drawingml/2006/main">
            <a:r>
              <a:t>• Explain that total volume alone cannot reveal waiting, long-dwell exceptions, or unreliable measurements.</a:t>
            </a:r>
          </a:p>
          <a:p xmlns:a="http://schemas.openxmlformats.org/drawingml/2006/main">
            <a:r>
              <a:t>Transition: Answer the first part with the Q1 comparison: throughput rose, but dwell moved in the wrong direction.</a:t>
            </a:r>
          </a:p>
          <a:p xmlns:a="http://schemas.openxmlformats.org/drawingml/2006/main">
            <a:r>
              <a:t>Presenter caution: Do not turn the lenses into causal claims; they are analytical perspectives.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project brief: central business question and PISA storyline.</a:t>
            </a:r>
          </a:p>
          <a:p xmlns:a="http://schemas.openxmlformats.org/drawingml/2006/main">
            <a:r>
              <a:t>- Container_Terminal_Analytics_Final_Documentation.docx, business-question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Lead with the tension: Q1 2026 handled more TEU and more containers, while average dwell also rose.</a:t>
            </a:r>
          </a:p>
          <a:p xmlns:a="http://schemas.openxmlformats.org/drawingml/2006/main">
            <a:r>
              <a:t>• State the three comparisons: TEU entered approximately 82.85K to 87K, containers entered approximately 47K to 49K, and dwell 6.4 to 6.7 days.</a:t>
            </a:r>
          </a:p>
          <a:p xmlns:a="http://schemas.openxmlformats.org/drawingml/2006/main">
            <a:r>
              <a:t>• Highlight the different managerial meanings: volume growth is positive; the dwell increase is an attention signal.</a:t>
            </a:r>
          </a:p>
          <a:p xmlns:a="http://schemas.openxmlformats.org/drawingml/2006/main">
            <a:r>
              <a:t>• Pause before discussing causes - the supplied data establishes the pattern, not the reason.</a:t>
            </a:r>
          </a:p>
          <a:p xmlns:a="http://schemas.openxmlformats.org/drawingml/2006/main">
            <a:r>
              <a:t>Transition: Clarify the most common flow mistake: reporting-window gaps are not current yard inventory.</a:t>
            </a:r>
          </a:p>
          <a:p xmlns:a="http://schemas.openxmlformats.org/drawingml/2006/main">
            <a:r>
              <a:t>Presenter caution: Do not claim why dwell increased or use older conflicting figures from the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2.30.39 AM.jpeg, latest Executive Overview screenshot.</a:t>
            </a:r>
          </a:p>
          <a:p xmlns:a="http://schemas.openxmlformats.org/drawingml/2006/main">
            <a:r>
              <a:t>- User-supplied current authoritative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Show the combined selected-period totals: 95,325 entries, 89,221 exits, 168,345 TEU entered, and 158,090 TEU exited.</a:t>
            </a:r>
          </a:p>
          <a:p xmlns:a="http://schemas.openxmlformats.org/drawingml/2006/main">
            <a:r>
              <a:t>• Compute the reporting-window differences explicitly: 6,104 containers and 10,255 TEU.</a:t>
            </a:r>
          </a:p>
          <a:p xmlns:a="http://schemas.openxmlformats.org/drawingml/2006/main">
            <a:r>
              <a:t>• Explain the cohort logic: a container entering in Q1 may exit after Q1, so the period difference is not a yard-stock measure.</a:t>
            </a:r>
          </a:p>
          <a:p xmlns:a="http://schemas.openxmlformats.org/drawingml/2006/main">
            <a:r>
              <a:t>• Contrast that with the separate current snapshot of 19 active containers.</a:t>
            </a:r>
          </a:p>
          <a:p xmlns:a="http://schemas.openxmlformats.org/drawingml/2006/main">
            <a:r>
              <a:t>Transition: Move from flow totals to the shape of dwell performance, where the long tail matters more than the average alone.</a:t>
            </a:r>
          </a:p>
          <a:p xmlns:a="http://schemas.openxmlformats.org/drawingml/2006/main">
            <a:r>
              <a:t>Presenter caution: Never call 6,104 current yard inventory.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2.30.41 AM.jpeg, latest Container Flow and Dwell screenshot.</a:t>
            </a:r>
          </a:p>
          <a:p xmlns:a="http://schemas.openxmlformats.org/drawingml/2006/main">
            <a:r>
              <a:t>- WhatsApp Image 2026-08-17 at 2.30.39 AM.jpeg, latest Executive Overview screenshot.</a:t>
            </a:r>
          </a:p>
          <a:p xmlns:a="http://schemas.openxmlformats.org/drawingml/2006/main">
            <a:r>
              <a:t>- User-supplied Q1 cohort guardrail.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Compare the three statistics: median 4 days, average 6.6 days, and P90 13.2 days.</a:t>
            </a:r>
          </a:p>
          <a:p xmlns:a="http://schemas.openxmlformats.org/drawingml/2006/main">
            <a:r>
              <a:t>• Explain that the average exceeds the median because a smaller set of long-stay containers pulls it upward.</a:t>
            </a:r>
          </a:p>
          <a:p xmlns:a="http://schemas.openxmlformats.org/drawingml/2006/main">
            <a:r>
              <a:t>• The illustrated curve is deliberately not a frequency claim; it only communicates the right-skewed shape implied by the percentile gap.</a:t>
            </a:r>
          </a:p>
          <a:p xmlns:a="http://schemas.openxmlformats.org/drawingml/2006/main">
            <a:r>
              <a:t>• Introduce exception-based monitoring for containers, commodities, or routes crossing defined dwell thresholds.</a:t>
            </a:r>
          </a:p>
          <a:p xmlns:a="http://schemas.openxmlformats.org/drawingml/2006/main">
            <a:r>
              <a:t>Transition: Shift from container time to vessel time and isolate where tracked turnaround is being consumed.</a:t>
            </a:r>
          </a:p>
          <a:p xmlns:a="http://schemas.openxmlformats.org/drawingml/2006/main">
            <a:r>
              <a:t>Presenter caution: Do not claim the long-dwell tail worsened sharply year over year; the latest screenshot does not establish that.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2.30.41 AM.jpeg, latest flow and dwell metrics.</a:t>
            </a:r>
          </a:p>
          <a:p xmlns:a="http://schemas.openxmlformats.org/drawingml/2006/main">
            <a:r>
              <a:t>- User-supplied authoritative dwell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State the selected detailed scope before interpreting the metrics: 177 tracked calls across 82 vessels.</a:t>
            </a:r>
          </a:p>
          <a:p xmlns:a="http://schemas.openxmlformats.org/drawingml/2006/main">
            <a:r>
              <a:t>• Break average turnaround into 22.5 hours before berth and 23.9 hours at berth, totaling 46.4 hours.</a:t>
            </a:r>
          </a:p>
          <a:p xmlns:a="http://schemas.openxmlformats.org/drawingml/2006/main">
            <a:r>
              <a:t>• Calculate the pre-berth share as 22.5 divided by 46.4, approximately 48.5 percent.</a:t>
            </a:r>
          </a:p>
          <a:p xmlns:a="http://schemas.openxmlformats.org/drawingml/2006/main">
            <a:r>
              <a:t>• Frame waiting as the first investigation point, not proof of a capacity or scheduling cause.</a:t>
            </a:r>
          </a:p>
          <a:p xmlns:a="http://schemas.openxmlformats.org/drawingml/2006/main">
            <a:r>
              <a:t>Transition: Move from vessel time to equipment workload and ask where operational demand is concentrated.</a:t>
            </a:r>
          </a:p>
          <a:p xmlns:a="http://schemas.openxmlformats.org/drawingml/2006/main">
            <a:r>
              <a:t>Presenter caution: Do not present the 177-call selected dataset as every terminal call, and do not claim berth capacity is the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2.30.42 AM.jpeg, latest Vessel Port Call and Berth screenshot.</a:t>
            </a:r>
          </a:p>
          <a:p xmlns:a="http://schemas.openxmlformats.org/drawingml/2006/main">
            <a:r>
              <a:t>- User-supplied authoritative selected-vessel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only the containers-handled and TEU-handled views from the latest equipment page.</a:t>
            </a:r>
          </a:p>
          <a:p xmlns:a="http://schemas.openxmlformats.org/drawingml/2006/main">
            <a:r>
              <a:t>• Describe QC10 as the highest-workload quay crane: approximately 24.0K containers and 33.7K TEU.</a:t>
            </a:r>
          </a:p>
          <a:p xmlns:a="http://schemas.openxmlformats.org/drawingml/2006/main">
            <a:r>
              <a:t>• Compare the next cranes: QC01, QC08, and QC02 are materially lower on handled volume.</a:t>
            </a:r>
          </a:p>
          <a:p xmlns:a="http://schemas.openxmlformats.org/drawingml/2006/main">
            <a:r>
              <a:t>• Frame the management follow-up as an investigation into allocation, availability, maintenance exposure, and validated productivity.</a:t>
            </a:r>
          </a:p>
          <a:p xmlns:a="http://schemas.openxmlformats.org/drawingml/2006/main">
            <a:r>
              <a:t>Transition: Before interpreting any efficiency metric, show the QC working-hour validation rate that limits trustworthy productivity analysis.</a:t>
            </a:r>
          </a:p>
          <a:p xmlns:a="http://schemas.openxmlformats.org/drawingml/2006/main">
            <a:r>
              <a:t>Presenter caution: Do not use the TEU-per-QC-working-hour chart and do not call QC10 the most productive crane.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2.30.40 AM (2).jpeg, latest Equipment Workload screenshot.</a:t>
            </a:r>
          </a:p>
          <a:p xmlns:a="http://schemas.openxmlformats.org/drawingml/2006/main">
            <a:r>
              <a:t>- User-supplied authoritative equipment workload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Start with the population: 1,087 vessel-call by equipment groups.</a:t>
            </a:r>
          </a:p>
          <a:p xmlns:a="http://schemas.openxmlformats.org/drawingml/2006/main">
            <a:r>
              <a:t>• Of those, 838 were validated and 249 contained multiple conflicting working-hour values.</a:t>
            </a:r>
          </a:p>
          <a:p xmlns:a="http://schemas.openxmlformats.org/drawingml/2006/main">
            <a:r>
              <a:t>• Translate this into rates: 77.1 percent validated and 22.9 percent inconsistent.</a:t>
            </a:r>
          </a:p>
          <a:p xmlns:a="http://schemas.openxmlformats.org/drawingml/2006/main">
            <a:r>
              <a:t>• Explain the governance decision: inconsistent groups were left out of validated productivity logic rather than averaged into a misleading KPI.</a:t>
            </a:r>
          </a:p>
          <a:p xmlns:a="http://schemas.openxmlformats.org/drawingml/2006/main">
            <a:r>
              <a:t>Transition: With trusted workload measures in place, show how demand is concentrated across operators.</a:t>
            </a:r>
          </a:p>
          <a:p xmlns:a="http://schemas.openxmlformats.org/drawingml/2006/main">
            <a:r>
              <a:t>Presenter caution: Do not quote unreliable productivity outputs derived from inconsistent QC-hour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Project.docx, CheckQCWorkingHours and FactQCPerformance Power Query definitions.</a:t>
            </a:r>
          </a:p>
          <a:p xmlns:a="http://schemas.openxmlformats.org/drawingml/2006/main">
            <a:r>
              <a:t>- PowerBi_Pres.pdf, pages 9 and 21.</a:t>
            </a:r>
          </a:p>
          <a:p xmlns:a="http://schemas.openxmlformats.org/drawingml/2006/main">
            <a:r>
              <a:t>- Container_Terminal_Analytics_Final_Documentation.docx, QC working-hour inconsistency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the current Power BI visual qualitatively: MSC leads, followed by COE and ONE.</a:t>
            </a:r>
          </a:p>
          <a:p xmlns:a="http://schemas.openxmlformats.org/drawingml/2006/main">
            <a:r>
              <a:t>• Emphasize concentration without assigning exact market shares that are not clearly visible.</a:t>
            </a:r>
          </a:p>
          <a:p xmlns:a="http://schemas.openxmlformats.org/drawingml/2006/main">
            <a:r>
              <a:t>• Explain why concentration matters operationally: a small set of operators can strongly shape workload timing and planning demand.</a:t>
            </a:r>
          </a:p>
          <a:p xmlns:a="http://schemas.openxmlformats.org/drawingml/2006/main">
            <a:r>
              <a:t>• Suggest operator-segmented reviews as a management lens, not as a performance judgment.</a:t>
            </a:r>
          </a:p>
          <a:p xmlns:a="http://schemas.openxmlformats.org/drawingml/2006/main">
            <a:r>
              <a:t>Transition: Extend the concentration story from operators to the port network and trade lanes.</a:t>
            </a:r>
          </a:p>
          <a:p xmlns:a="http://schemas.openxmlformats.org/drawingml/2006/main">
            <a:r>
              <a:t>Presenter caution: Do not invent operator market-share percentages.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2.30.39 AM.jpeg, latest Executive Overview Top Operators by TEU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Introduce the network scale: 15 POD regions, 21 POD countries, 50 discharge ports, and 118 active trade lanes.</a:t>
            </a:r>
          </a:p>
          <a:p xmlns:a="http://schemas.openxmlformats.org/drawingml/2006/main">
            <a:r>
              <a:t>• State the combined selected-period flow as 158.09K TEU exited.</a:t>
            </a:r>
          </a:p>
          <a:p xmlns:a="http://schemas.openxmlformats.org/drawingml/2006/main">
            <a:r>
              <a:t>• Use the supplied ranking to name leading discharge ports: Piraeus, Novorossiysk, Antwerp, Hamburg, Rotterdam, Ashdod, Mersin, and Salerno.</a:t>
            </a:r>
          </a:p>
          <a:p xmlns:a="http://schemas.openxmlformats.org/drawingml/2006/main">
            <a:r>
              <a:t>• Interpret the pattern as network breadth with volume clustering, without labeling every POL-POD route as outbound.</a:t>
            </a:r>
          </a:p>
          <a:p xmlns:a="http://schemas.openxmlformats.org/drawingml/2006/main">
            <a:r>
              <a:t>Transition: Next, contrast what dominates cargo volume with what appears in the higher-dwell commodity mix.</a:t>
            </a:r>
          </a:p>
          <a:p xmlns:a="http://schemas.openxmlformats.org/drawingml/2006/main">
            <a:r>
              <a:t>Presenter caution: Use 'TEU Exited' and 'Port Connectivity &amp; Trade Lanes'; do not use outdated outbound-only wording for the whole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2.30.40 AM.jpeg, latest Port Connectivity &amp; Trade Lanes screenshot.</a:t>
            </a:r>
          </a:p>
          <a:p xmlns:a="http://schemas.openxmlformats.org/drawingml/2006/main">
            <a:r>
              <a:t>- User-supplied connectivity metrics and wording guardrails.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Start with container-type concentration: approximately 111.6K TEU General Dry and 54.9K TEU Refrigerated.</a:t>
            </a:r>
          </a:p>
          <a:p xmlns:a="http://schemas.openxmlformats.org/drawingml/2006/main">
            <a:r>
              <a:t>• Explain that these two types account for virtually all visible TEU volume, while other types are much smaller.</a:t>
            </a:r>
          </a:p>
          <a:p xmlns:a="http://schemas.openxmlformats.org/drawingml/2006/main">
            <a:r>
              <a:t>• Contrast volume with higher-dwell commodities shown in the dashboard: Reinforced Iron, Sugar, Potatoes, Sensitive Tools, and Wood.</a:t>
            </a:r>
          </a:p>
          <a:p xmlns:a="http://schemas.openxmlformats.org/drawingml/2006/main">
            <a:r>
              <a:t>• Use this contrast to motivate targeted dwell reviews by commodity rather than only by total volume.</a:t>
            </a:r>
          </a:p>
          <a:p xmlns:a="http://schemas.openxmlformats.org/drawingml/2006/main">
            <a:r>
              <a:t>Transition: Convert the evidence into four practical operational levers.</a:t>
            </a:r>
          </a:p>
          <a:p xmlns:a="http://schemas.openxmlformats.org/drawingml/2006/main">
            <a:r>
              <a:t>Presenter caution: Do not build any insight around Electrical Appliances versus Electronic Devices, and do not infer causes for commodity dwell.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2.30.41 AM (1).jpeg, latest Cargo and Commodity screenshot.</a:t>
            </a:r>
          </a:p>
          <a:p xmlns:a="http://schemas.openxmlformats.org/drawingml/2006/main">
            <a:r>
              <a:t>- User-supplied authoritative cargo figures and naming guardrails.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Present the four levers as investigations and operating routines, not promised savings.</a:t>
            </a:r>
          </a:p>
          <a:p xmlns:a="http://schemas.openxmlformats.org/drawingml/2006/main">
            <a:r>
              <a:t>• First, create exception monitoring around the long-dwell tail.</a:t>
            </a:r>
          </a:p>
          <a:p xmlns:a="http://schemas.openxmlformats.org/drawingml/2006/main">
            <a:r>
              <a:t>• Second, decompose pre-berth waiting; third, balance crane workload using validated productivity; fourth, improve QC logging quality.</a:t>
            </a:r>
          </a:p>
          <a:p xmlns:a="http://schemas.openxmlformats.org/drawingml/2006/main">
            <a:r>
              <a:t>• Close the loop: investigate, validate, act, and measure again in the same governed model.</a:t>
            </a:r>
          </a:p>
          <a:p xmlns:a="http://schemas.openxmlformats.org/drawingml/2006/main">
            <a:r>
              <a:t>Transition: Before closing, make the analytical boundaries explicit so decisions remain disciplined.</a:t>
            </a:r>
          </a:p>
          <a:p xmlns:a="http://schemas.openxmlformats.org/drawingml/2006/main">
            <a:r>
              <a:t>Presenter caution: Do not attach invented savings, targets, or causal explanations to the four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project brief: required four-action structure.</a:t>
            </a:r>
          </a:p>
          <a:p xmlns:a="http://schemas.openxmlformats.org/drawingml/2006/main">
            <a:r>
              <a:t>- Latest Power BI screenshots and validation logic cited on slides 7-15.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this slide to protect interpretation, not to apologize for the analysis.</a:t>
            </a:r>
          </a:p>
          <a:p xmlns:a="http://schemas.openxmlformats.org/drawingml/2006/main">
            <a:r>
              <a:t>• Restate the Q1 comparison and entry-cohort logic.</a:t>
            </a:r>
          </a:p>
          <a:p xmlns:a="http://schemas.openxmlformats.org/drawingml/2006/main">
            <a:r>
              <a:t>• Reinforce the selected scope of the detailed vessel dataset and separate patterns from causes.</a:t>
            </a:r>
          </a:p>
          <a:p xmlns:a="http://schemas.openxmlformats.org/drawingml/2006/main">
            <a:r>
              <a:t>• Note that the project did not require external benchmarks; conclusions are grounded in the supplied operational data.</a:t>
            </a:r>
          </a:p>
          <a:p xmlns:a="http://schemas.openxmlformats.org/drawingml/2006/main">
            <a:r>
              <a:t>Transition: Close by connecting raw records, governed preparation, validated KPIs, insight, and action.</a:t>
            </a:r>
          </a:p>
          <a:p xmlns:a="http://schemas.openxmlformats.org/drawingml/2006/main">
            <a:r>
              <a:t>Presenter caution: Do not mention internal dashboard mistakes on the visible slide; keep the wording focused on analytical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project brief: Q1 scope and analytical guardrails.</a:t>
            </a:r>
          </a:p>
          <a:p xmlns:a="http://schemas.openxmlformats.org/drawingml/2006/main">
            <a:r>
              <a:t>- Latest Power BI screenshots and project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Resolve the opening question with four evidence-backed findings: growth, dwell distribution, pre-berth waiting, and equipment/data-quality concentration.</a:t>
            </a:r>
          </a:p>
          <a:p xmlns:a="http://schemas.openxmlformats.org/drawingml/2006/main">
            <a:r>
              <a:t>• Rehearse the delivery chain from raw records through trusted preparation, governed modeling, validated KPIs, operational insight, and action.</a:t>
            </a:r>
          </a:p>
          <a:p xmlns:a="http://schemas.openxmlformats.org/drawingml/2006/main">
            <a:r>
              <a:t>• End on the value delivered: a reusable decision-support system, not just a collection of dashboards.</a:t>
            </a:r>
          </a:p>
          <a:p xmlns:a="http://schemas.openxmlformats.org/drawingml/2006/main">
            <a:r>
              <a:t>• Invite questions after the closing line rather than adding a separate empty thank-you slide.</a:t>
            </a:r>
          </a:p>
          <a:p xmlns:a="http://schemas.openxmlformats.org/drawingml/2006/main">
            <a:r>
              <a:t>Transition: Open the appendix only if the panel asks for weight analysis, row-level traceability, or technical methods.</a:t>
            </a:r>
          </a:p>
          <a:p xmlns:a="http://schemas.openxmlformats.org/drawingml/2006/main">
            <a:r>
              <a:t>Presenter caution: Do not add external impact claims, savings, or benchmarks in the close.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Latest Power BI screenshots supplied with the project.</a:t>
            </a:r>
          </a:p>
          <a:p xmlns:a="http://schemas.openxmlformats.org/drawingml/2006/main">
            <a:r>
              <a:t>- Project.docx and Container_Terminal_Analytics_Final_Documentation.docx.</a:t>
            </a:r>
          </a:p>
          <a:p xmlns:a="http://schemas.openxmlformats.org/drawingml/2006/main">
            <a:r>
              <a:t>- User-supplied authoritative metrics and closing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this appendix only if the panel asks about weight completeness or relative workload patterns.</a:t>
            </a:r>
          </a:p>
          <a:p xmlns:a="http://schemas.openxmlformats.org/drawingml/2006/main">
            <a:r>
              <a:t>• Keep all values in source unit because the business unit is not confirmed.</a:t>
            </a:r>
          </a:p>
          <a:p xmlns:a="http://schemas.openxmlformats.org/drawingml/2006/main">
            <a:r>
              <a:t>• Emphasize relative distributions by operator, cargo type, container type, and weight group.</a:t>
            </a:r>
          </a:p>
          <a:p xmlns:a="http://schemas.openxmlformats.org/drawingml/2006/main">
            <a:r>
              <a:t>Transition: Return to the main conclusion or move to row-level traceability.</a:t>
            </a:r>
          </a:p>
          <a:p xmlns:a="http://schemas.openxmlformats.org/drawingml/2006/main">
            <a:r>
              <a:t>Presenter caution: Never convert source-unit values into kilograms, tonnes, or another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2.30.41 AM (2).jpeg, latest Weight Profile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the row-level table to demonstrate traceability from an executive KPI back to container number, dates, dwell, weight, operator, cargo, commodity, and POL/POD.</a:t>
            </a:r>
          </a:p>
          <a:p xmlns:a="http://schemas.openxmlformats.org/drawingml/2006/main">
            <a:r>
              <a:t>• Explain that drill-through supports validation and investigation without replacing aggregate performance views.</a:t>
            </a:r>
          </a:p>
          <a:p xmlns:a="http://schemas.openxmlformats.org/drawingml/2006/main">
            <a:r>
              <a:t>• Point out that the detail page preserves the same semantic model definitions used by the summary pages.</a:t>
            </a:r>
          </a:p>
          <a:p xmlns:a="http://schemas.openxmlformats.org/drawingml/2006/main">
            <a:r>
              <a:t>Transition: Move to technical methods if the panel wants implementation detail.</a:t>
            </a:r>
          </a:p>
          <a:p xmlns:a="http://schemas.openxmlformats.org/drawingml/2006/main">
            <a:r>
              <a:t>Presenter caution: Do not expose or discuss individual records beyond their role in analytical traceability.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2026-08-17 at 2.30.42 AM (1).jpeg, latest Container Detail and Lifecycle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Use this appendix to show representative methods, not every line of implementation.</a:t>
            </a:r>
          </a:p>
          <a:p xmlns:a="http://schemas.openxmlformats.org/drawingml/2006/main">
            <a:r>
              <a:t>• Power Query handled the production staging and semantic-model path; the listed steps come directly from Project.docx.</a:t>
            </a:r>
          </a:p>
          <a:p xmlns:a="http://schemas.openxmlformats.org/drawingml/2006/main">
            <a:r>
              <a:t>• The SQL example preserves grain by aggregating container operations to vessel call before further analysis.</a:t>
            </a:r>
          </a:p>
          <a:p xmlns:a="http://schemas.openxmlformats.org/drawingml/2006/main">
            <a:r>
              <a:t>• Python is shown only as supplementary workbook QA; it is not presented as the source feeding Power BI.</a:t>
            </a:r>
          </a:p>
          <a:p xmlns:a="http://schemas.openxmlformats.org/drawingml/2006/main">
            <a:r>
              <a:t>Transition: Return to the conclusion and invite questions.</a:t>
            </a:r>
          </a:p>
          <a:p xmlns:a="http://schemas.openxmlformats.org/drawingml/2006/main">
            <a:r>
              <a:t>Presenter caution: Do not show flawed SQL QC-productivity logic or UserVoyage-only Python deduplication.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Project.docx, Power Query Advanced Editor exports.</a:t>
            </a:r>
          </a:p>
          <a:p xmlns:a="http://schemas.openxmlformats.org/drawingml/2006/main">
            <a:r>
              <a:t>- SQL report.docx and final port analysis - Copy.sql.</a:t>
            </a:r>
          </a:p>
          <a:p xmlns:a="http://schemas.openxmlformats.org/drawingml/2006/main">
            <a:r>
              <a:t>- User-supplied governing brief for safe Python QA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4831c9cf5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490c78ca74a9d" /><Relationship Type="http://schemas.openxmlformats.org/officeDocument/2006/relationships/slideLayout" Target="/ppt/slideLayouts/slideLayout1.xml" Id="R442198f49fdb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2198f49fdb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edb8d49894b07" /><Relationship Type="http://schemas.openxmlformats.org/officeDocument/2006/relationships/notesSlide" Target="/ppt/notesSlides/notesSlide1.xml" Id="Rd25c8ff07b11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6a34fb494816" /><Relationship Type="http://schemas.openxmlformats.org/officeDocument/2006/relationships/notesSlide" Target="/ppt/notesSlides/notesSlide2.xml" Id="R097a1dceb26d4e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7c3c3db8e4cf5" /><Relationship Type="http://schemas.openxmlformats.org/officeDocument/2006/relationships/notesSlide" Target="/ppt/notesSlides/notesSlide3.xml" Id="R04cf8f034722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ff4b27a994bea" /><Relationship Type="http://schemas.openxmlformats.org/officeDocument/2006/relationships/notesSlide" Target="/ppt/notesSlides/notesSlide4.xml" Id="R707d07bdf68e4f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856380420443a" /><Relationship Type="http://schemas.openxmlformats.org/officeDocument/2006/relationships/image" Target="/ppt/media/image.png" Id="Rb13d157baea4436c" /><Relationship Type="http://schemas.openxmlformats.org/officeDocument/2006/relationships/notesSlide" Target="/ppt/notesSlides/notesSlide5.xml" Id="R311b5121b4bc49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edd93a6b0428f" /><Relationship Type="http://schemas.openxmlformats.org/officeDocument/2006/relationships/notesSlide" Target="/ppt/notesSlides/notesSlide6.xml" Id="R28d62654c8c749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4e0b6a7af4c00" /><Relationship Type="http://schemas.openxmlformats.org/officeDocument/2006/relationships/image" Target="/ppt/media/image2.png" Id="R574abf6de1844428" /><Relationship Type="http://schemas.openxmlformats.org/officeDocument/2006/relationships/notesSlide" Target="/ppt/notesSlides/notesSlide7.xml" Id="Rd4c3ab76af664b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19e2f85784e2a" /><Relationship Type="http://schemas.openxmlformats.org/officeDocument/2006/relationships/notesSlide" Target="/ppt/notesSlides/notesSlide8.xml" Id="Rab9d7c206b7f41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a60b987f44630" /><Relationship Type="http://schemas.openxmlformats.org/officeDocument/2006/relationships/chart" Target="/ppt/slides/charts/chart1.xml" Id="R60571a72cf98460d" /><Relationship Type="http://schemas.openxmlformats.org/officeDocument/2006/relationships/notesSlide" Target="/ppt/notesSlides/notesSlide9.xml" Id="R574028fbf4504b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653d3efd4189" /><Relationship Type="http://schemas.openxmlformats.org/officeDocument/2006/relationships/notesSlide" Target="/ppt/notesSlides/notesSlide10.xml" Id="Rf8b4b1285cb742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79edaae7d4e07" /><Relationship Type="http://schemas.openxmlformats.org/officeDocument/2006/relationships/image" Target="/ppt/media/image3.png" Id="Rae9fa361e61d4840" /><Relationship Type="http://schemas.openxmlformats.org/officeDocument/2006/relationships/image" Target="/ppt/media/image4.png" Id="R9b681d346de74cfd" /><Relationship Type="http://schemas.openxmlformats.org/officeDocument/2006/relationships/notesSlide" Target="/ppt/notesSlides/notesSlide11.xml" Id="Re00a842af01e4d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8dabe6bcb43fa" /><Relationship Type="http://schemas.openxmlformats.org/officeDocument/2006/relationships/chart" Target="/ppt/slides/charts/chart2.xml" Id="R9622874e1ab649c0" /><Relationship Type="http://schemas.openxmlformats.org/officeDocument/2006/relationships/notesSlide" Target="/ppt/notesSlides/notesSlide12.xml" Id="Re195e22e171c40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2b13c1e1419f" /><Relationship Type="http://schemas.openxmlformats.org/officeDocument/2006/relationships/image" Target="/ppt/media/image5.png" Id="R6bdad97b0c5f4ab3" /><Relationship Type="http://schemas.openxmlformats.org/officeDocument/2006/relationships/notesSlide" Target="/ppt/notesSlides/notesSlide13.xml" Id="R1fec9ec4db6248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e5166c3d548b7" /><Relationship Type="http://schemas.openxmlformats.org/officeDocument/2006/relationships/image" Target="/ppt/media/image6.png" Id="R4f05a776f6c44db7" /><Relationship Type="http://schemas.openxmlformats.org/officeDocument/2006/relationships/notesSlide" Target="/ppt/notesSlides/notesSlide14.xml" Id="Rea8deab58ed147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095802d3b4d47" /><Relationship Type="http://schemas.openxmlformats.org/officeDocument/2006/relationships/image" Target="/ppt/media/image7.png" Id="R00c37bdc3266465a" /><Relationship Type="http://schemas.openxmlformats.org/officeDocument/2006/relationships/image" Target="/ppt/media/image8.png" Id="Rcf83a32081f84d0b" /><Relationship Type="http://schemas.openxmlformats.org/officeDocument/2006/relationships/notesSlide" Target="/ppt/notesSlides/notesSlide15.xml" Id="R6476c1bd3f9f49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08293dff34cc1" /><Relationship Type="http://schemas.openxmlformats.org/officeDocument/2006/relationships/notesSlide" Target="/ppt/notesSlides/notesSlide16.xml" Id="R88d2a135a35843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94f77ce204562" /><Relationship Type="http://schemas.openxmlformats.org/officeDocument/2006/relationships/notesSlide" Target="/ppt/notesSlides/notesSlide17.xml" Id="R217d8a16288c4f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7554c5517466e" /><Relationship Type="http://schemas.openxmlformats.org/officeDocument/2006/relationships/notesSlide" Target="/ppt/notesSlides/notesSlide18.xml" Id="R066275c3027a47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0e0eb8e704991" /><Relationship Type="http://schemas.openxmlformats.org/officeDocument/2006/relationships/image" Target="/ppt/media/image9.png" Id="Rb6247d38d1dc4bd6" /><Relationship Type="http://schemas.openxmlformats.org/officeDocument/2006/relationships/notesSlide" Target="/ppt/notesSlides/notesSlide19.xml" Id="R93afe2c9d5b346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add1dffc34136" /><Relationship Type="http://schemas.openxmlformats.org/officeDocument/2006/relationships/image" Target="/ppt/media/image10.png" Id="R1d07254dbc784726" /><Relationship Type="http://schemas.openxmlformats.org/officeDocument/2006/relationships/notesSlide" Target="/ppt/notesSlides/notesSlide20.xml" Id="R8a9b5a9d4f7c49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bc1fff3414486" /><Relationship Type="http://schemas.openxmlformats.org/officeDocument/2006/relationships/notesSlide" Target="/ppt/notesSlides/notesSlide21.xml" Id="R4ccad9aa38674e0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Illustrative distribution shape</c:v>
          </c:tx>
          <c:spPr>
            <a:ln xmlns:a="http://schemas.openxmlformats.org/drawingml/2006/main" w="38100">
              <a:solidFill>
                <a:srgbClr val="2F5BB7"/>
              </a:solidFill>
              <a:prstDash val="solid"/>
            </a:ln>
          </c:spPr>
          <c:marker>
            <c:symbol val="none"/>
          </c:marker>
          <c:cat>
            <c:strLit>
              <c:ptCount val="1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20+</c:v>
              </c:pt>
            </c:strLit>
          </c:cat>
          <c:val>
            <c:numLit>
              <c:formatCode>General</c:formatCode>
              <c:ptCount val="11"/>
              <c:pt idx="0">
                <c:v>2</c:v>
              </c:pt>
              <c:pt idx="1">
                <c:v>10</c:v>
              </c:pt>
              <c:pt idx="2">
                <c:v>24</c:v>
              </c:pt>
              <c:pt idx="3">
                <c:v>20</c:v>
              </c:pt>
              <c:pt idx="4">
                <c:v>15</c:v>
              </c:pt>
              <c:pt idx="5">
                <c:v>11</c:v>
              </c:pt>
              <c:pt idx="6">
                <c:v>8</c:v>
              </c:pt>
              <c:pt idx="7">
                <c:v>5</c:v>
              </c:pt>
              <c:pt idx="8">
                <c:v>3</c:v>
              </c:pt>
              <c:pt idx="9">
                <c:v>2</c:v>
              </c:pt>
              <c:pt idx="10">
                <c:v>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E6C80"/>
                    </a:solidFill>
                  </a:rPr>
                  <a:t>Completed dwell days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E6C8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C8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QC groups</c:v>
          </c:tx>
          <c:dPt>
            <c:idx val="0"/>
            <c:spPr>
              <a:solidFill xmlns:a="http://schemas.openxmlformats.org/drawingml/2006/main">
                <a:srgbClr val="2BA992"/>
              </a:solidFill>
            </c:spPr>
          </c:dPt>
          <c:dPt>
            <c:idx val="1"/>
            <c:spPr>
              <a:solidFill xmlns:a="http://schemas.openxmlformats.org/drawingml/2006/main">
                <a:srgbClr val="F0A53A"/>
              </a:solidFill>
            </c:spPr>
          </c:dPt>
          <c:cat>
            <c:strLit>
              <c:ptCount val="2"/>
              <c:pt idx="0">
                <c:v>Validated</c:v>
              </c:pt>
              <c:pt idx="1">
                <c:v>Inconsistent</c:v>
              </c:pt>
            </c:strLit>
          </c:cat>
          <c:val>
            <c:numLit>
              <c:formatCode>General</c:formatCode>
              <c:ptCount val="2"/>
              <c:pt idx="0">
                <c:v>838</c:v>
              </c:pt>
              <c:pt idx="1">
                <c:v>249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6"/>
      </c:doughnutChart>
      <c:spPr>
        <a:solidFill xmlns:a="http://schemas.openxmlformats.org/drawingml/2006/main">
          <a:srgbClr val="F5F7FB"/>
        </a:solidFill>
      </c:spPr>
    </c:plotArea>
    <c:plotVisOnly val="1"/>
  </c:chart>
  <c:spPr>
    <a:solidFill xmlns:a="http://schemas.openxmlformats.org/drawingml/2006/main">
      <a:srgbClr val="F5F7FB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3B297D-74E6-4370-AC40-40B48C08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2BABF-7C74-4761-B9D1-240C246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18795-06B8-4E48-BFAB-17ED8677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0" y="5867400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8ECCD-051F-4CF5-B000-35ED0D54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0" y="6096000"/>
            <a:ext cx="1219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5B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5D4EB-DF06-4F4D-8439-25E347AF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C4C9F-94B0-43F3-9079-4696690C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62000" y="55340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17127-0386-4528-AAAA-25BC7FA2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578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24D3C-F353-4216-A571-023FFBF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466850" y="55340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6CCFC-BAD2-4C70-881F-A88FB241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578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A66E-FA81-4962-B52A-32DC37C7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71700" y="55340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4564E-24A0-4B01-9400-DAE1131A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578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571EE-FD28-4B14-BA23-DF527660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876550" y="55340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B7189-8BE5-4D61-9C96-B0A942F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578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C3545-371F-4E92-A534-BADFDE7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581400" y="55340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DCFD8-0395-4D46-8C20-62C9D8F4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A2462-66AF-4365-80C7-DFA9728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104900" y="517207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DD6F2-48C5-4852-9869-FEC9F00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9587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2ED1F-62C5-467D-9579-1B8E696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809750" y="517207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72A3F-03F5-4AD9-9E88-79CC8BFD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9587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33A01-9FD9-43B0-9BC8-A762F317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514600" y="517207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F8662-35D9-4EF8-9EB3-48C3653F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DA6F9-03DF-493F-B56D-518899A9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19450" y="517207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17286-DF64-45A6-831A-88D74F1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339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D4EC9-43F4-48A5-8596-1DBB29F6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447800" y="48101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DEADA-6D05-4400-8CD8-1A05842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339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1BF8A-29F4-46F7-B758-D17412E3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52650" y="48101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B6DB6-BCAD-407A-B190-562A78B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33925"/>
            <a:ext cx="628650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9A051-95DB-4C3E-BB7B-74D3678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857500" y="4810125"/>
            <a:ext cx="9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1C1C4-A8F8-4EA9-8F12-981E153B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353550" y="2095500"/>
            <a:ext cx="95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FC3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FC4F9-BC1C-4C78-9CA6-B01C2C1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353550" y="2190750"/>
            <a:ext cx="1647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FC3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5E7C61-1E7D-4E13-BF55-E050C059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58350" y="2190750"/>
            <a:ext cx="28575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FC3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0EBEE2-F261-4FFD-84F0-55874DB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915650" y="2190750"/>
            <a:ext cx="38100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FC3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59F8F-AF85-4A60-9C30-BDAD35A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95775"/>
            <a:ext cx="6858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C984F-1C7D-4004-9174-006D4DB3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3619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47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24777-A6A1-4C31-8467-706C3D78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24475"/>
            <a:ext cx="1638300" cy="2571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63B20-18E0-4AC5-9A3B-80FB48DB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91150"/>
            <a:ext cx="2381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CA8C4-3E2B-43DC-8842-ABE1B1E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91150"/>
            <a:ext cx="2381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87EB28-C232-45FD-B250-6C4872DD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391150"/>
            <a:ext cx="2381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9F5E12-572D-4ADC-B5F5-F9ABFA5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91150"/>
            <a:ext cx="2381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5A2315-2AFF-45D4-9FF2-F78682CC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391150"/>
            <a:ext cx="238125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DFB14C-C78D-417C-ACCD-06838C24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00800" y="1524000"/>
            <a:ext cx="156210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A9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3657D-B483-4143-B19A-2E63DA71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962900" y="1524000"/>
            <a:ext cx="18859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A99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25D304-C914-4A6D-8135-B0FDB86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86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CE727E-97D3-412B-B2F5-242CCC6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57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72BFEA-A73D-4E61-95A5-99B4DC28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590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B76A4E-A869-4030-A81F-658DABF5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"/>
            <a:ext cx="243840" cy="9906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9954BE-5AFC-4E1B-82D3-DCC43DC1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77215"/>
            <a:ext cx="243840" cy="1676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E26D23-1302-46EF-A9F4-04B2CC09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23875"/>
            <a:ext cx="243840" cy="22098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364F0A-67FE-46BC-901F-6A470E6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16280" y="790575"/>
            <a:ext cx="77724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F5BB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A7A52E-AB8F-4EA8-845F-1D961BA3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CONTAINER TERMINAL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1D7478-D1DF-45A0-9009-175360A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933730-CCF2-46D3-97ED-AE5D35F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DCE6F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0" i="0">
                <a:solidFill>
                  <a:srgbClr val="DCE6F5"/>
                </a:solidFill>
                <a:latin typeface="Aptos Display"/>
                <a:ea typeface="Aptos Display"/>
                <a:cs typeface="Aptos Display"/>
              </a:rPr>
              <a:t>From Raw Operational Data to Decision-Ready Insights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4BF650-A99D-43AC-BC99-880BEBF9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00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8C12C6-B527-41EA-BA97-FD39320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Damietta Terminal Analytics | Q1 2025 vs Q1 2026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A8DBCE-869C-45B0-BE6D-D75406DB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43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AFC3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FC3E6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EB5F9D-CE6D-4470-B49C-6C204B8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FC3E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FC3E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651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23002-1FFA-4E2F-910A-E96E3B6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C5A3C-52F6-4CB8-A3FE-907D6E5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9C637-A770-4E14-96C3-71821F80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A6914-365E-4110-A09B-FC6E74B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41196-3ED9-4F30-A660-79C28BCC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938B4-5496-4067-A230-93629D03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PROJECT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6E0D2-537A-4FAF-A013-F7D85602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Built as a Team. Designed as One Analytical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E9568-06D5-4915-995E-029FDFB6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A49ED-B4C8-491E-9A72-3E08F6D6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8B254-E4E6-4B4F-9371-4E00674A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48CC7-C973-4563-964D-EA5ADAC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7A4CD-3757-4959-85AA-4076969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1144250" cy="4171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710F8-C041-48C6-B071-C9175F4C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33350" cy="417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C7178-AE6A-49DD-B04A-89A616B3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81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C4A8A-FBBA-4DCA-B803-7689495D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Abdelrahman Hany Ahmed Elsayed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1CDE8-80C9-499F-B3F8-A2182179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421E4-050F-4FEA-89A4-9BF70F51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D878A-04C6-4AC2-919C-A5EE4F12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Shehab eldin refaat mohamed hassan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1DAC6-F897-4669-A3F4-F281FAF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9EFA5-7798-489A-BA6F-95E7EA70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A5EFE-E889-429A-8A2C-2EFB5FA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9909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Nermeen samy fathy ahmed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A3A36-FA86-48D3-883B-5B4D6EAB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D252C-8E30-4CFC-8A18-6D7E107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0CCAB-3E55-4C56-B172-C22248E6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958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Nawara Elsafy Mohamed Aly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F6F4E-E810-441C-AB9F-9AF641F6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86500-FBA3-4235-9EAD-4A4145EB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33103-6F1B-4D52-9D5A-386DA4E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8122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Ayman Ibrahim Boghdady Elsaghir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865E9-EF15-4161-A46C-3F6D3C9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7B1537-3CA8-4C0B-B910-631C8595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928879-10F4-480D-9216-45BED7A8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861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Menna nabil abdelaziz awadallah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24C383-C484-407D-A515-EBF896DB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AB6318-B86B-440F-9137-47195EE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6CEF6-9294-4D74-8975-90981CC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909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Eugenie Aziz Adeeb Aziz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D1C1BF-1D7C-4497-9939-6BFCE62B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96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CCC4D9-436B-425E-9479-ABC2B64B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4476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2C00A-D59F-4E68-A102-884038E4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571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679375-42C4-429E-BB7C-C31BACCA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171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Seven contributors. One governed analytical system.</a:t>
            </a:r>
          </a:p>
        </p:txBody>
      </p:sp>
    </p:spTree>
    <p:extLst>
      <p:ext uri="{BB962C8B-B14F-4D97-AF65-F5344CB8AC3E}">
        <p14:creationId xmlns:p14="http://schemas.microsoft.com/office/powerpoint/2010/main" val="2068921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DEB97C-A403-499E-82C9-FD8F5036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1B837-984E-4A61-8351-08CAFFF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686A8-4E1F-4DA5-AC7D-C46D552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DCE30-4C7B-4C52-95D6-D03DA29C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102E0-24EA-4BE4-925D-4D2FF80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2A43F-44E4-4F9E-8E6A-BA578719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DATA LANDSCAPE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9807B-9675-42C7-B80C-DA40655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Before We Could Analyze the Terminal, We Had to Understand Its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90946-8DBB-4A10-ABD6-12FE0284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EA395-F416-480B-8EAD-4B1B85C6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187DE-7BF8-4CD7-B887-916BC2CB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5B1FA-13EA-47BC-A337-80E22E1A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143125" y="2676525"/>
            <a:ext cx="39528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EBBD9-AE81-4885-93FE-A9B7523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2581275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F3451-D0F9-4931-9CA1-1241D6D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2676525"/>
            <a:ext cx="39528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0AF02-AA9E-4368-AC91-D99AE4C2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43125" y="4143375"/>
            <a:ext cx="39528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E806B-F924-4645-A181-D7B7824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4143375"/>
            <a:ext cx="9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D9A2B-1C2B-4627-8A8A-E8B51050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096000" y="4143375"/>
            <a:ext cx="39528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D9E85-523D-40AC-9995-AE467290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43225"/>
            <a:ext cx="228600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C245E-5720-4D60-99C7-B6C7EDF8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13735"/>
            <a:ext cx="198120" cy="80486"/>
          </a:xfrm>
          <a:prstGeom xmlns:a="http://schemas.openxmlformats.org/drawingml/2006/main" prst="roundRect">
            <a:avLst>
              <a:gd name="adj" fmla="val 23669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C1C67-69BC-47AA-8163-C3CEDC8C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585" y="3158014"/>
            <a:ext cx="198120" cy="136208"/>
          </a:xfrm>
          <a:prstGeom xmlns:a="http://schemas.openxmlformats.org/drawingml/2006/main" prst="roundRect">
            <a:avLst>
              <a:gd name="adj" fmla="val 13986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4A8B5-BF76-48A6-B629-46F50DF9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0" y="3114675"/>
            <a:ext cx="198120" cy="179546"/>
          </a:xfrm>
          <a:prstGeom xmlns:a="http://schemas.openxmlformats.org/drawingml/2006/main" prst="roundRect">
            <a:avLst>
              <a:gd name="adj" fmla="val 10610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75772-9B6F-497D-BE99-8EF8771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625465" y="3331369"/>
            <a:ext cx="63150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F5B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5BBEE-C295-48FA-A9A1-F70A7788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909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OPERATIONAL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LANGUAGE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EC5D1-742C-4C36-8C85-754FD751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1C518-B4B0-4A13-8696-1A39306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76BD6-0C93-4420-8447-E1847C6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VESSEL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1887B-DB7B-49A6-8D60-C004E1DF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ATA / ATB / ATD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Vessel / Voyage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FBDD3-525A-4D6B-A130-5C79F08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619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D11E43-23B4-4428-B4F8-51F8B93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3B0D07-44BC-4575-9792-4B8DFAB0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43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CONTAINER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A89D8-BE78-49A4-9715-BDEADD8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764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Number / Size / Type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Operator / Full-Empty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40141-9F5C-4544-A8E9-991C0756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BDF02-2375-4414-9441-DE669B5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5192E0-6E71-4249-AE4E-EBF98E13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YARD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27307E-C952-44EA-A7D2-1B5F69E7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In Date / Out Date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Stack Days / Transport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A3B208-E0E4-4F10-926D-8A2FFAC0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3D3F9A-636C-47B1-9FC3-380D7D05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4707DD-4A15-4E97-BBC6-0049B76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CARGO &amp;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BC7C8A-22CB-45D1-BD16-B2E11C4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Cargo / Commodity / Weight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IMDG / Damage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1BF67D-FBB9-4798-A9B9-D5954970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3619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A615C3-9AE6-4FF0-A37C-4AE6DB6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4973E3-C11D-4226-B5CB-48DC34B8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474D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2474D3"/>
                </a:solidFill>
                <a:latin typeface="Aptos Display"/>
                <a:ea typeface="Aptos Display"/>
                <a:cs typeface="Aptos Display"/>
              </a:rPr>
              <a:t>CONNECTIVITY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D5D56F-4DF2-4281-A685-4A7EA489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14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POL / POD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Country / Region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81970-8284-472F-A988-382C498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F2597E-84BB-4B29-9625-3145B4F3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4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362A79-A85F-4060-9EDA-FBFEF7CC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EQUIPMENT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D45EBA-90A0-4A7D-862E-81B35B9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96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Loading / Discharging Equipment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QC information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82A484-553B-459E-89D5-C8398F3A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048375"/>
            <a:ext cx="577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The data dictionary translated 97 source fields into consistent business meaning.</a:t>
            </a:r>
          </a:p>
        </p:txBody>
      </p:sp>
    </p:spTree>
    <p:extLst>
      <p:ext uri="{BB962C8B-B14F-4D97-AF65-F5344CB8AC3E}">
        <p14:creationId xmlns:p14="http://schemas.microsoft.com/office/powerpoint/2010/main" val="1497564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88F699-F8C4-4089-844E-45F93CD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14D6F-024D-47D0-95C2-D914D9FA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8B6AD-5CCB-4694-91B8-3EDDA98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BB7EB-3B22-4479-826C-013FFB4D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F44DF-074B-43E2-B362-D85A949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5FDD0-37B1-468D-8CF8-B8E7F34A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DATA PREPARATION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D2460-1592-471D-94D3-9821678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Cleaning Was a Pipeline - Not a Button.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4EB76-4E34-4051-B8E3-AAF7DD38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C512E-8CA5-4C43-A1C1-FDA86005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57A5E-2671-4F8E-BFFB-1E63006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D3354-CC40-41A7-93A4-B8AAFBE2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479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28AEE-D68D-49CD-9C07-F37ADD56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F9F6C-8C35-4098-8188-99BF887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479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FE3E5-C99E-4D76-A38F-8D7B905F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5238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92DAA-2BE1-4B1A-8CAE-8D41F175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714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3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B2AF4-95EC-47A6-96C8-CE93EE1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AFC3E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AFC3E6"/>
                </a:solidFill>
                <a:latin typeface="Aptos Display"/>
                <a:ea typeface="Aptos Display"/>
                <a:cs typeface="Aptos Display"/>
              </a:rPr>
              <a:t>RAW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E09A5-E6AA-4019-A29A-CFDC160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Operational extracts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Reference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0BE41-5D38-4179-9E18-AAEF7AA0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38375"/>
            <a:ext cx="1714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9050">
            <a:solidFill>
              <a:srgbClr val="2F5B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D675F-BA1B-42A7-87DE-4BC1E75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907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POWER 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1B0DA-73A9-41D3-B719-EF3D8A5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14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Types + renaming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Trim / Clean / blanks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5FD0A-4479-453A-A133-1605C2F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1714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34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744BB-CE36-43EE-99BA-41F8A16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SEMANTIC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2E6AD-0BCF-4A01-A366-09CFAEBD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4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Facts + dimensions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Keys + status fields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2375D-0038-421E-B07C-3E744989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1714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3A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E38B8-7730-4121-A3CE-86D7DC9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907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DAX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37E43-8E44-445F-8E1C-D965AB9E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14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Governed measures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Grain-aware logic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AFBF1-DDFB-4188-A0A7-718CD53A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38375"/>
            <a:ext cx="1714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A99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217942-A14D-46F2-B12B-DEB92C8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907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POWER BI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E19A5-3D8B-46C5-B84B-B29453E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14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Decision-ready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dashboards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E25ED-3B15-4BBE-8107-EEA01D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2875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FDCE7-37C7-4B2A-9AB9-0552F11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243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SQL SERVER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69DBF-F7F8-4D19-92BD-A19A687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Primary / foreign keys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3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Data-type alignment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3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Joins, CTEs, window functions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5645F8-B5EB-4451-BFA2-B0996F0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286125" y="3371850"/>
            <a:ext cx="44767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3459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405A4-395E-4F35-902F-F1C97D20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52875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43E4EF-94C3-49BA-AF3B-6CF4B45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243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PYTHON QA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E64CAA-1C37-436C-B179-AAD5210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Sheet availability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3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Blank-row and text checks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3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Clean workbook copy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AD805-257A-4D82-BE0B-3D85312D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315325" y="3371850"/>
            <a:ext cx="57150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A992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D6BE72-A3DC-49EC-A874-36D1210D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14975"/>
            <a:ext cx="89344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2AD7A6-39F6-43FC-90B8-CECBEE44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14975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1713F4-904E-4056-96A1-7ADB2C9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29275"/>
            <a:ext cx="862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Power Query governed the production BI path; SQL and Python strengthened structure, exploration, and QA.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D012FD-3493-4E93-A8F2-B158F7AC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2103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SQL and Python supported validation and analysis; final dashboard KPIs were governed through the Power Query semantic-model path.</a:t>
            </a:r>
          </a:p>
        </p:txBody>
      </p:sp>
    </p:spTree>
    <p:extLst>
      <p:ext uri="{BB962C8B-B14F-4D97-AF65-F5344CB8AC3E}">
        <p14:creationId xmlns:p14="http://schemas.microsoft.com/office/powerpoint/2010/main" val="2100805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48BA88-1E18-4C00-8611-CB43B19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D1363-0B2E-4414-B220-81837F18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44847-61BD-4288-A820-2E3004EC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9999D-A354-42F1-87B0-5414C0E1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32B8D-7656-426F-AFBA-3F34901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3D5B-FE5F-40BE-9358-EF21B15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MODEL +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69647-E456-439C-9C44-55FCF5DC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Trust Came Before Trends.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3B733-3BC4-45C5-95E1-EFD66B54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BF1F4-1912-485E-85D4-DA42AAF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12A1B-FA98-42E3-91D0-64A5A5FA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CAD66-9EA5-4E2F-A806-D96BDF2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SIMPLIFIED THREE-FACT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ABAD6-CF93-4B9F-B914-C0A0026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52625" y="2457450"/>
            <a:ext cx="1952625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9F1CC-E65D-4AE5-8723-A232DE29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52625" y="2457450"/>
            <a:ext cx="1952625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D1F9F-604C-4B83-86E0-03D39614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52625" y="2457450"/>
            <a:ext cx="1952625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0EE27-9640-43B0-973B-47F6CD6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52625" y="2495550"/>
            <a:ext cx="1952625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A8DC5-94BA-44DF-8D2D-A22DA6B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52625" y="3448050"/>
            <a:ext cx="195262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D547F-F5B2-4B38-8935-8AAC7194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952625" y="3619500"/>
            <a:ext cx="1952625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D062A-68FC-4774-A7C4-6FEC4FB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52625" y="2495550"/>
            <a:ext cx="1952625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2FF10-4FE9-472D-9F12-37A947B7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52625" y="3448050"/>
            <a:ext cx="1952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672E9-2E7C-4152-B835-48D99D1D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952625" y="4400550"/>
            <a:ext cx="19526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EE496-7582-4D76-9E48-642D922B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05250" y="2457450"/>
            <a:ext cx="22860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D0EED-D909-4491-88E1-52C0210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05250" y="2457450"/>
            <a:ext cx="228600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9EB70-13DD-43E1-A2FD-13A2CA72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05250" y="2457450"/>
            <a:ext cx="2286000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F947A-A90B-448E-9D38-8B177F2E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05250" y="2495550"/>
            <a:ext cx="228600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2B19B-0DD7-4E0C-8078-8C8F1D9B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05250" y="3448050"/>
            <a:ext cx="228600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61753-A89F-46BB-AE92-19649540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05250" y="3619500"/>
            <a:ext cx="228600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C7B15-D2AE-4DAB-8369-B2F6801D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05250" y="2495550"/>
            <a:ext cx="228600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1E16A-A32B-498F-B866-10679392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05250" y="3448050"/>
            <a:ext cx="228600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8C21E-C600-4C90-BF9F-42B4CA4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05250" y="4400550"/>
            <a:ext cx="22860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101D92-8B71-4385-825A-B4CD75EA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2E631-9EFD-4CCC-BE16-6116EDAC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95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FactContainerOperations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A7029F-6DC6-4716-8141-BB7E4488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5ECE6E-A7DD-4516-A941-9B6E18C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48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FactQCPerformance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D99979-B62E-4BD6-9D35-638B1CF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1A040A-D86B-490E-B46E-CD220281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00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FactVesselPortCalls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176AF7-DB4A-4A9A-A289-675DA84D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BE3295-C055-4BF7-B562-EA62198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94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Vessel + Call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0989D9-30AE-4C6F-B8C0-A312332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07536-0430-40E3-8DEE-71F523C0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94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Operator + Cargo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277D63-4FEC-4F2F-BFFF-2912EAA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1DA84-BDCF-4C88-898A-B3918405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94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Container Spec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6F5C5-600B-485F-998C-37999553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71700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F4354-FD88-49BA-B8BD-21BDDF33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94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Equipment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EDDB53-FB4E-45CA-AD75-02E737D1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33750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B26872-3539-4E97-B815-6C32B465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09950"/>
            <a:ext cx="94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POL / POD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30AE27-FED0-4793-BF73-45EE921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95800"/>
            <a:ext cx="1095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094BC6-160A-42EE-AFE8-4035F13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72000"/>
            <a:ext cx="94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Date + Profiles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4258AE-5DD4-41B8-97D5-0A9457E7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90675"/>
            <a:ext cx="4819650" cy="2705100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d157baea4436c"/>
          <a:stretch xmlns:a="http://schemas.openxmlformats.org/drawingml/2006/main"/>
        </p:blipFill>
        <p:spPr>
          <a:xfrm xmlns:a="http://schemas.openxmlformats.org/drawingml/2006/main">
            <a:off x="6704306" y="1619250"/>
            <a:ext cx="4536488" cy="264795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1C202A-8975-402C-9DFE-CF7E4A7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ACTUAL MODEL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CEC306-F56F-44D0-9BBB-CE60A61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43450"/>
            <a:ext cx="4762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78C062-79D4-435E-B8DC-F6F0B9B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43450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4138E3-156C-4445-ACFD-AEFAB612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57750"/>
            <a:ext cx="445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Not every number was allowed to become a KPI.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6CEDA2-2046-4A59-935C-78AD6745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3049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B01E4D-C055-4CE0-9BCE-21D1E99F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DATE SEQUENCE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471F4D-FCB7-476D-854E-BB113368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15000"/>
            <a:ext cx="13049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41B89C-E0A8-41B1-8517-924C2FF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435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0A5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0A53A"/>
                </a:solidFill>
                <a:latin typeface="Aptos"/>
                <a:ea typeface="Aptos"/>
                <a:cs typeface="Aptos"/>
              </a:rPr>
              <a:t>QC HOURS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05B38C-0F76-4B4E-8944-CF7807F7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15000"/>
            <a:ext cx="13049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105728-FC73-461F-90DF-3EABF7C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435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MATCH STATUS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8E2652-19EF-4350-8D42-6E7A909E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15000"/>
            <a:ext cx="13049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77E067-149F-4707-AFB7-D6E8913C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435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WEIGHT STATUS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EBC7D3-E26E-44D2-96E8-D0C68F27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292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one container move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2A38B0-EBDB-4953-AB0E-1CA10076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one vessel-call x equipment group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3FCD3E-A691-4FFF-9E5C-7F635278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102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one vessel call</a:t>
            </a:r>
          </a:p>
        </p:txBody>
      </p:sp>
    </p:spTree>
    <p:extLst>
      <p:ext uri="{BB962C8B-B14F-4D97-AF65-F5344CB8AC3E}">
        <p14:creationId xmlns:p14="http://schemas.microsoft.com/office/powerpoint/2010/main" val="1699260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58B4EF-6BDF-48DA-B968-0A64263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B9C3A-D0CF-42A6-8F89-80589F81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5767E-D252-4D4A-8BAD-EF41E617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882CA-981A-4C81-826F-39E76C3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9E99-70BC-4862-8249-C441820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CBD7A-8631-4ECA-8DDB-8BCF424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BUSINESS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B26A7-B9D2-4474-98FA-16A576F9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B7170-6F0D-4FAB-9F9A-FFCAC1E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6DCAB-E1D6-43E4-B51E-4B69E74B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0BEE1-C25B-419C-9F24-F8683E2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2EF47-539D-4329-A62B-54F1750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BE82E-BDE0-4CF9-82FC-DD94B96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C1814-D0DB-415E-ADC7-1ECF7A4E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39900-BD1C-4202-89F5-9F03084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ACDE8-1086-4A71-B242-C22478C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The Real Question Wasn't 'How Much Did We Move?' - It Was 'Where Did We Lose Time?'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BE914-C27F-44B0-A0DA-D81D1DE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C9E1C-51A7-4175-8DAF-DF558FF3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4F40C-D1BC-41A5-A5F8-BDDE1C91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757AA-A4E6-486F-ACE5-856E774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994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3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How efficiently is the terminal converting vessel calls and container moves into throughput - and where is that efficiency being lost?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9DE1E-7E52-4B48-9F28-F844280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71775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DC197-504D-4AED-945D-A8482A68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2286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C7B09-F554-4ABD-B884-F5C2FA5D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528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DC834-431B-4EC4-A0E1-3ACB23D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9092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2936F-BF7C-409B-BD55-67E06F9F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291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VOLUME &amp;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E074F-53A3-42B4-B39C-E46657F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48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Entries, exits, TEU, vessel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2D0A6-7EF4-4F4D-8BA5-1053943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33750"/>
            <a:ext cx="2286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28F35-80FE-4A48-B4DC-2A1C74A7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528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E15DF-906A-466C-9413-C7D9D622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9092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DEBD2-39DF-41DA-AAFB-041F7343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291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EFFICIENCY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25E15-0858-4D92-9D09-839CE77E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48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Dwell, waiting, berth 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761CF-A331-4981-BF39-8A18A6E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2286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84D56-D6AA-4D48-BE0E-A5AD02DF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528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0F425-021C-41BE-B078-E1A9827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9092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EC2418-8E63-4B74-A7F6-9A589BFB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4291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RISK &amp; DATA QUALITY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3A75F3-1281-4DD7-A4F2-7F8CFDB1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48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Validation, tails, unreliable groups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49C901-507E-46AE-BA05-9875371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33750"/>
            <a:ext cx="22860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00103F-0F26-450E-B362-3BB1525D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5528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E49597-4D0A-40DF-A9CE-1B715AA0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59092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7A013E-5A08-4990-8A19-4E6882BF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2912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CONNECTIVITY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84E7DC-A498-4DC7-AC4C-266000A1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48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Trade lanes, discharge ports, concentration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4F19DE-E7AE-46AA-A960-7D8D65BE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86868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4D809-1B16-4B6D-AB19-DC118FF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4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D6CD2F-0838-4257-BF62-C8BE84E4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816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story begins with volume - but the decision value comes from time, concentration, and trust.</a:t>
            </a:r>
          </a:p>
        </p:txBody>
      </p:sp>
    </p:spTree>
    <p:extLst>
      <p:ext uri="{BB962C8B-B14F-4D97-AF65-F5344CB8AC3E}">
        <p14:creationId xmlns:p14="http://schemas.microsoft.com/office/powerpoint/2010/main" val="361217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591FC3-5174-452F-A9C7-C8FD10AC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C67F0-52F3-4FA7-8614-8B5D262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E5A61-200D-4185-893D-FA2615F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E75E6-F8BC-4787-BA0F-A9D115B3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6C44F-C765-4F5E-950C-96FDDE3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E4EA-B3C7-4CC3-9119-0CCCC432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EXECUTIVE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35327-3F2F-4C28-A53A-17DD509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6AEC0-ABC2-4AB0-B9C6-8AA4A954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51138-7413-427F-80C8-115B2CF7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80ECC-B44E-4E90-8072-58CD7B3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14F9F-4E42-4CFA-84D3-42054AF2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2DDF3-4449-4C1D-A64C-0CF0601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5358B-D309-475B-B8A3-E0AC8939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05E8B-7475-469B-86C4-DC715161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7681B-0249-4F42-9EFF-1A2F7D55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Q1 2026 Moved More TEU - But Containers Stayed Longer.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1837E-817A-49EA-871D-B85C76F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998F1-A2AE-4131-BDC8-2051F280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16BC4-D19C-4489-BAB9-B2116891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05CE0-C199-4EE9-ACF9-891F75CF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00D07-0697-4728-A477-E1C61D4A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TEU ENTERED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2641E-8812-4F26-A0F5-AB8009DA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82.85K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2299-1911-492B-952D-0D64E556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71700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7CABB-073E-419D-8621-FBAFC47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~87K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D0021-79A1-4D6F-B892-544208D9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10287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77B81-2E1F-4772-9FA9-67EFC1E3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859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+4.5%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F01AD-8D95-4C1D-8AD5-58B634C7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1D91A-33F0-4F1E-A4F1-85C928E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CONTAINERS ENTERED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7CC2E-2960-47FD-8C9B-BEA9C9F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~47K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18BF9F-5D4B-453E-9882-F04A3EA4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695700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49955-8FE7-4807-AEB3-2C92157D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195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~49K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665654-7E17-4532-9D8A-C5B1616B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10287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8618B-4DEB-4F8C-936C-9B83BAA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99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+3.1%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C325A3-426A-4036-BF90-507831D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4953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17F919-40F9-4C33-83DF-DE0BA35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AVERAGE DWELL (DAYS)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A7256C-15C9-4F8E-BC6B-7664B27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6.4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1DC32F-1CB0-4181-A6D8-A4EE2C5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19700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662BC2-80E0-4D9E-9D63-58EDC118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435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0233F"/>
                </a:solidFill>
                <a:latin typeface="Aptos Display"/>
                <a:ea typeface="Aptos Display"/>
                <a:cs typeface="Aptos Display"/>
              </a:rPr>
              <a:t>6.7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1CF202-94BD-444E-A75D-15BEB7F6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10287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7955F3-B1C3-44C6-930B-713F1C0C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339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+4.4%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7ED2B0-30A4-4925-BE3F-2B7C0B3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9725"/>
            <a:ext cx="54864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abf6de1844428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638300"/>
            <a:ext cx="5429250" cy="1981200"/>
          </a:xfrm>
          <a:prstGeom xmlns:a="http://schemas.openxmlformats.org/drawingml/2006/main" prst="roundRect">
            <a:avLst>
              <a:gd name="adj" fmla="val 6731"/>
            </a:avLst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56A8F6-9624-4E6E-9571-A217CDB4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5429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E805F1-FA93-44AA-8980-CED71044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CAFDF7-BE38-4BE5-BD78-2731FB69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Volume increased in Q1 2026. Average dwell also increased modestly.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40A31C-EEC8-4688-94B6-B50E040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91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Throughput momentum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4F1B0F-14DB-4543-A57A-E17766AA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05450"/>
            <a:ext cx="45243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9BBA40-0A31-4A83-902C-D6DC47B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05450"/>
            <a:ext cx="3733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F6A4A0-A41E-4D5A-B409-69FEEEC4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007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0A5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0A53A"/>
                </a:solidFill>
                <a:latin typeface="Aptos"/>
                <a:ea typeface="Aptos"/>
                <a:cs typeface="Aptos"/>
              </a:rPr>
              <a:t>Time efficiency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81B3A3-F675-46A9-8C2D-B9A05F26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15050"/>
            <a:ext cx="45243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5D5315-C059-4919-AE78-69C9F9C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15050"/>
            <a:ext cx="26193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96661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AEF9A3-0ACE-4B98-98DA-E8BDAF1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B593C-BCDE-4620-8FBB-F7562725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0C865-020D-4F8F-A34F-E8E55F43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C3E3E-2D37-4969-BB04-FD4E81C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B4E43-4773-49E8-975D-CF5FB13C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EEC2A-BBDC-444F-A66D-34875C76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FLOW VS INVENTORY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B52F8-23EF-491C-A221-17AB47D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342F9-0358-4390-988B-A8222570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4A8EE-42C3-4525-B83E-8396328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2E11E-01AF-4386-A6D4-FCA8874F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CB50D-19EE-417E-87E4-2948CB3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E0E02-E3F1-4F24-A2C5-B474DEB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6CC97-DE1D-4696-867D-18BA9D97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FECBE-A0B0-4C08-A6A2-0FACA7A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466BD-605F-4200-B99B-CD5732BE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6.1K Reporting-Window Gap Does Not Mean 6.1K Containers Are Still in the Yard.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04FA6-C037-42CD-BD89-11090FCE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E2E4D-1265-4AE9-9FD9-D03AB003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F21D6-BFC2-4F4B-B602-23C31E7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ED8AF-4485-4D28-BE08-1F1562EE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381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9E70E-1024-4C2A-9F10-8D129FB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0778A-6228-4423-9FBF-1CAB127E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95,325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09C52-58CF-4859-933F-BBAAC461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Container Entries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AD43A-0C98-4524-BA7D-C645B995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2381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91637-2EEC-4783-A2BA-B6ADDB21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7EDFB-0FB0-49E5-80F3-3221CDD0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240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89,221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6822C-450B-4658-8475-8431241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Container Exits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0EFC8-20EA-44DE-B835-EAA2929C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2381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1ACF6-AD2C-4784-941D-156C37B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C2D738-94D7-4AE6-8DA9-990E2072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168,345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6B3965-9D18-4473-956F-E0B65426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TEU Entered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D69891-C2AF-4AC0-906C-D475A14A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2381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81BD99-C1EC-4384-8E8A-F3E1EB2B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22472-A380-4C2E-94B3-98BD8769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813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158,090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F1614-8CF7-4316-B832-1B4FB4EE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57575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TEU Exited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59055B-9FB2-4636-97F6-68290AD1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5067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A25511-F004-43ED-9540-8D99A33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+6,104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9DF0CF-474B-4E1E-A124-0AC0B55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434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containers in the selected reporting-window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3A42DB-E188-47C3-8D25-4A2097F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+10,255 TEU difference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33CE5A-08E7-4E78-8B93-8049B4B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76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ENTRY-COHORT TIMELINE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AAC295-CF51-4C3A-997E-927FDC5C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438900" y="3143250"/>
            <a:ext cx="4591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345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B0BC7B-AFFB-4B07-A5D7-2A392AD8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1AB856-DA0A-490C-8F5C-D12E6BC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596D00-1044-4825-A36A-5560001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C71E7C-28B4-4436-8A21-4CE78F8D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Q1 ENTRY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827559-B37A-46F5-B40E-ABF1EF48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71725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A5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0A53A"/>
                </a:solidFill>
                <a:latin typeface="Aptos"/>
                <a:ea typeface="Aptos"/>
                <a:cs typeface="Aptos"/>
              </a:rPr>
              <a:t>SOME EXITS OCCUR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A5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0A53A"/>
                </a:solidFill>
                <a:latin typeface="Aptos"/>
                <a:ea typeface="Aptos"/>
                <a:cs typeface="Aptos"/>
              </a:rPr>
              <a:t>AFTER Q1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8A90F4-BA5A-4A20-8DDE-EFA5B1D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71725"/>
            <a:ext cx="116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CURRENT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3F84EA-9B7C-431B-A2BE-37F52F3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9433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A99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782DCB-431E-4732-AFDE-53C42884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4810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FFDDFD-B83E-43DB-BA3D-39439103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containers currently active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in the terminal snapshot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688506-1271-4568-B425-82DB9A83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39433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F34FBB-758B-4CE8-B5A9-442E5358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571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4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06234B-5686-43B3-82A5-3C539900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34000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Two valid measures. Two different questions.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4D1DE2-D682-44C6-976A-40593EF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Entry cohort / reporting window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6F27FB-87BD-4EBF-8FA4-C457B7A5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962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Current active inventory snapshot</a:t>
            </a:r>
          </a:p>
        </p:txBody>
      </p:sp>
    </p:spTree>
    <p:extLst>
      <p:ext uri="{BB962C8B-B14F-4D97-AF65-F5344CB8AC3E}">
        <p14:creationId xmlns:p14="http://schemas.microsoft.com/office/powerpoint/2010/main" val="345085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A4C82B-839E-4A15-B7D8-CCFA6ECE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27FE8-57A0-480B-AC7A-A411C2D1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D701-B013-4D6F-B7F2-0B59CD60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9A02C-3F14-4554-9A49-37B85F4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B7F7E-3F55-49BE-89AB-97DB707F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E14F-22FC-409A-AC7B-44E410AF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DWELL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C1484-4F99-45AF-B648-9EB3B78D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ED654-4958-4EDA-AD1C-BBE6D773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DE545-A713-4C2A-837B-97C319C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CD81D-966C-41B7-B667-11C4D6DC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5BCE7-F96D-4F6A-A130-461B556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C1C20-EE00-463E-9967-7C21EC54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88387-F966-4BCA-805C-29F1D9D3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6EEC1-1EB3-42EE-B366-6F9E882F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F6C4F-3CEE-4D92-B828-D51A766C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Most Containers Clear in 4 Days - The Slowest 10% Need More Than 13.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0ACAD-962E-4CA4-BFEE-8DEF10E9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5D63C-D9C8-447B-8B18-E724816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84F4D-2D7B-47D1-B22C-931643B1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78299-206B-41C1-9F9F-47768BD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27622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FA9A7-40AE-4EF5-8FB9-AC08525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9DD1E-EDD0-428D-8032-E07B2FF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907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4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E65B6-174C-4BF2-BB01-DB60CBE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69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Median completed dwell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7ABB1-FB38-42D8-909A-8EB2B1C8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TYPICAL CONTAINER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EF9D0-96DE-4204-B131-B73E5EDC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7622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EC80E-4733-4949-B17E-867ABDB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C6FDA-2911-45E9-91BE-6EB7C8D0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4802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6.6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5ECCF-AD48-4FCA-A9CB-C49DB3DB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Average completed dwell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92A34-E8FB-4FB5-BBDF-CB89BEA6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290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PULLED UP BY THE TAIL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5111A6-1D6C-4CBB-9DCA-3C6D734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27622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0FA3C-1CCE-457D-8EF6-0AE3D88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66675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68B7E-7015-446E-BFD3-FAA71C1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13.2 days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878656-CD0B-448E-8297-71BA26F5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816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P90 completed dwell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921CB7-9FAC-455F-B38E-2CE62DE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A3A8F"/>
                </a:solidFill>
                <a:latin typeface="Aptos"/>
                <a:ea typeface="Aptos"/>
                <a:cs typeface="Aptos"/>
              </a:rPr>
              <a:t>SLOWEST 10%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15A53F-C7F8-4F71-B026-94203C44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504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RIGHT-SKEWED DWELL PROFILE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mlns:a="http://schemas.openxmlformats.org/drawingml/2006/main" x="3905250" y="185737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571a72cf98460d"/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C7F977-DA87-4301-9240-C114D062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48300" y="2076450"/>
            <a:ext cx="95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A992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B6F004-D72D-42FE-925B-A1D6FA8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MEDIAN 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BC6032-77DE-43D4-A24F-2B39C43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696325" y="2076450"/>
            <a:ext cx="95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3A8F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7F536C-91EC-4FE5-A13D-C71551D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A3A8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A3A8F"/>
                </a:solidFill>
                <a:latin typeface="Aptos"/>
                <a:ea typeface="Aptos"/>
                <a:cs typeface="Aptos"/>
              </a:rPr>
              <a:t>P90 13.2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C1A95-9640-4685-9FE9-0E1A39E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67325"/>
            <a:ext cx="7143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2E4F3"/>
          </a:solidFill>
          <a:ln xmlns:a="http://schemas.openxmlformats.org/drawingml/2006/main" w="14288">
            <a:solidFill>
              <a:srgbClr val="8A3A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0A818-EA3D-444C-BB7E-8119433E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6732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A2C274-8440-448E-AD8A-934B73E4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683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average is not the typical experience. A smaller long-dwell tail needs exception-based monitoring.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E29741-7AFD-4715-98AF-F369C71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72200"/>
            <a:ext cx="7000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Illustrative distribution shape; percentile markers use the actual dashboard metrics.</a:t>
            </a:r>
          </a:p>
        </p:txBody>
      </p:sp>
    </p:spTree>
    <p:extLst>
      <p:ext uri="{BB962C8B-B14F-4D97-AF65-F5344CB8AC3E}">
        <p14:creationId xmlns:p14="http://schemas.microsoft.com/office/powerpoint/2010/main" val="1461653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F1472B-F0AF-4553-A3A8-8E658726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81749-6006-4566-9CA7-BF1049BF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FF911-F9D1-4AFB-AD74-86890260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3E501-4FFF-40E1-9052-4371BD4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1B3CA-BF42-48D3-9467-9B7D846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E9A1-4871-47AE-9889-D4CE709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VESSEL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F0874-0261-427F-822D-41B4056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EEB3E-21E0-4C2A-BF5F-1A888A14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3210D-2F0C-4597-BFBA-EEF8B6F1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2DFCB-03CD-4971-8014-79AC4B9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50BC0-DDC6-4161-875D-75ADDD55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DF248-FBCF-4859-89B6-2BC0D620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7CE51-9818-4D2E-A33F-9D25A8A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1F340-A515-4F90-AD0C-B8B3D646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7ADB3-01A6-45C8-9BDA-2FBBAF68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Nearly Half of Tracked Vessel Turnaround Happens Before Berthing.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649FC-862D-4893-B375-5EA1CFBD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7F011-4B24-4DB7-893D-25873349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93723-90EA-4D9F-B913-32A115A2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63554-43C7-4BA2-B437-4E6C9D81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22860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C40AA-2674-453F-B032-A5550F63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66675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694B2-0474-4502-8F2F-9378B21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46.4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A2B59-1555-481C-9DD0-6B8DCF1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Average turnaround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8C399-3E4A-40B9-B217-80CAA8E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71625"/>
            <a:ext cx="22860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497D2-A433-41A3-B7A2-656C4491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71625"/>
            <a:ext cx="66675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2E883-2E56-4549-AEAF-2EBDD453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24025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22.5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5A64B-E320-47CD-AA58-1D6A3AC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02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Average pre-berth waiting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C9331-09FA-4AF3-929F-21665BBD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71625"/>
            <a:ext cx="22860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9BCF6-7A57-4B28-923E-7351475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71625"/>
            <a:ext cx="66675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3FFAC-7D2F-4B7C-B383-C6CCAF1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24025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23.9 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EF623-C2A7-4A57-BDB6-BE8C570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Average berth 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8BC26-5E59-4E4D-94D3-0609AEF0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3337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2D9AC4-BE77-48CD-833D-D83AB3C9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95450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48.5%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67871-DF77-4C44-A32F-69D866D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0497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of average tracked turnaround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occurs before berthing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8E137-CAB8-48B9-A147-4808998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VESSEL TIMELINE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774A10-33A9-49EB-85E7-E0AE7317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333875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96341D-BF6D-48D3-8630-9B7932B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714750"/>
            <a:ext cx="4600575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74E46-CD44-4687-AF4B-AF8739B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PRE-BERTH WAITING | 22.5 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A65C1-A24E-480F-9509-AE3BA270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1000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BERTH OCCUPANCY | 23.9 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A6D86-DB0A-4024-895B-124B69A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77EAF5-8569-4FB2-9477-12862BA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8952F7-9C57-482E-B730-9D22EA1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3F9CF7-DA16-4B1C-B79C-6C65A3D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7F3F6C-F23B-4D68-9FFB-E1EB8922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438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C45412-C771-4F53-A938-0CDE9A64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386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DED955-B7B8-48EA-9916-F07DF2E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14875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Actual Time of Arrival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20A9A1-1E81-416C-BDF5-29DA0701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14875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Actual Time of Berthing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34D0FF-9BAB-41CC-A179-AA872856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1487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Actual Time of Departure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A1F6CF-A101-42A7-8413-CAF65122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38500"/>
            <a:ext cx="1362075" cy="15906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97A9BD-1CD8-4298-806A-582F7C0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90900"/>
            <a:ext cx="1019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6D6D68-4EAF-4297-8373-6C6388DF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57625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tracked vessel calls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3F16DA-A4B9-4AB7-8BEA-FCD5EC0E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33875"/>
            <a:ext cx="981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6DDA1F-9AF6-41B1-8511-1A350584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A"/>
                </a:solidFill>
                <a:latin typeface="Aptos"/>
                <a:ea typeface="Aptos"/>
                <a:cs typeface="Aptos"/>
              </a:rPr>
              <a:t>82 vessels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41BC5A-E9BF-43D4-BCA0-075B5DD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8286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E683F5-D984-44BB-A945-9412607C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340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B34544-EDCD-4F44-AF57-E07A077D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48300"/>
            <a:ext cx="798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Pre-berth waiting is the first place management should investigate.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1FE5B7-087E-4E4E-BC7C-721DAA3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143625"/>
            <a:ext cx="481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Selected vessel-call records; not all terminal calls.</a:t>
            </a:r>
          </a:p>
        </p:txBody>
      </p:sp>
    </p:spTree>
    <p:extLst>
      <p:ext uri="{BB962C8B-B14F-4D97-AF65-F5344CB8AC3E}">
        <p14:creationId xmlns:p14="http://schemas.microsoft.com/office/powerpoint/2010/main" val="6080667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645B50-E6E2-4C51-89B7-91BD1E11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E9C13-2334-42F2-AB71-C730C60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11005-B480-44C7-B3B2-AB69F930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3E882-1D17-4FA6-A120-13A4B3B8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21E40-66E5-4E02-8147-57A4948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AD8A1-76ED-4BA8-95AB-7BF74CC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EQUIPMENT WORKLOAD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C9944-7211-46B9-89A4-948487F6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8B3EE-ADA8-41B8-9985-099F871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59B24-9E94-4FCB-9B81-03AA331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86ED2-A17E-4FE1-95BB-0A3A4DD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A4C08-C821-4170-84EA-35EED70E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758A3-A2AD-4D7E-A7E1-81B7D04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0830A-6440-4D4E-8D69-E1A551AC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32AFE-23BA-42D1-A40A-98B153F8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FB53A-DCE2-4D9C-9863-4103505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One Quay Crane Carries the Heaviest Share of the Workload.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EF985-E24F-4326-94C2-FC3DAD23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91D3D-78CD-418B-9097-F29C5F5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A64BE-3F6B-4A89-95F2-28506CC3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DEED8-6E1F-4CE7-89B9-02655E90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52768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fa361e61d4840"/>
          <a:srcRect xmlns:a="http://schemas.openxmlformats.org/drawingml/2006/main" l="0" t="514" r="0" b="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38300"/>
            <a:ext cx="5219700" cy="25146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13E14-0CFC-455C-AF46-8ECF605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09725"/>
            <a:ext cx="55054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81d346de74cfd"/>
          <a:srcRect xmlns:a="http://schemas.openxmlformats.org/drawingml/2006/main" l="0" t="549" r="0" b="5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638300"/>
            <a:ext cx="5448300" cy="25146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95258-9FCC-4A58-8354-A2049D4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10896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2DF42-5BD9-483B-85F7-B848ECE5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QC10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E31BD-18D8-4765-A7FA-0E62DDDD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24.0K containers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1A60D-7AEB-4EA6-87C4-456115A2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33.7K TEU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45C6B-6D09-4D4E-9CEF-41D39291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29150"/>
            <a:ext cx="9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9AF87-01B3-46C1-8473-C8B8F09F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2915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QC01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85344-67AF-4168-87EF-82D6843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101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14.6K containers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982DC-F1A7-404A-AB49-5828700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863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14.3K TEU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1446B-2947-4598-A93A-D8F1294D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9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705461-57B5-41D3-94A0-80D72E2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2915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QC08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C4D30-4145-4915-97AF-714F520F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101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10.4K containers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BCFA6-4E9D-4388-84B6-A998CC85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863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12.9K TEU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FA1780-29D0-4F38-AB87-0111E037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29150"/>
            <a:ext cx="95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F619ED-ABAE-4CF1-8E07-A2677ED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2915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QC02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3ADB4B-B0B1-4526-A2FC-76218F2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101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7.4K containers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282049-1D13-4F91-891C-0EBB70DB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863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11.4K TEU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55119A-DB93-4225-A8E6-AF449781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344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03A05C-C363-4CB9-8D2D-CCB151D6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3CFAD2-40D9-4F28-801D-90A32787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055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Workload is materially concentrated on QC10 - validate productivity before changing allocation.</a:t>
            </a:r>
          </a:p>
        </p:txBody>
      </p:sp>
    </p:spTree>
    <p:extLst>
      <p:ext uri="{BB962C8B-B14F-4D97-AF65-F5344CB8AC3E}">
        <p14:creationId xmlns:p14="http://schemas.microsoft.com/office/powerpoint/2010/main" val="918975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CB0429-F917-4DE1-A795-5CD358F5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0B432-21FD-468B-A695-DF41CF13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F0DBB-F661-46D4-B2CF-372FDF0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9D7E7-4CD9-4703-8248-DA16526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9C119-A7DB-47A4-86C5-91F4E6A8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52382-6E3F-412C-91FE-E8E86FF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DATA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D2388-95CF-4A35-8C19-3BBFDAD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316D4-B209-4F8D-AD5A-A7288D1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208F9-7084-4DF5-8F6E-61994D10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3F87D-1B2D-41C9-8C24-8D8EB3D8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CF2F8-CFCB-4380-80E8-5D6A7465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0C3D1-5591-43E9-9BF2-066EDA5A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A6801-3359-4D24-A0A5-D7C8237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68FF7-09BC-45B9-952F-9B0260D3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F1131-477F-4A10-A90F-3BD72819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Almost One in Four QC Groups Was Too Inconsistent to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436E6-E4A0-4F18-AE2B-07C8A2B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F602E-C884-4C3F-8359-ADD8670F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06687-E625-4314-90C1-40CB678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4762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22874e1ab649c0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52B4C-E37B-45F6-BC22-359CCA9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08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52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77.1%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7103A-FD5C-4468-BEDA-2F0DA37F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9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VALIDATED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97DE7-5D25-4635-81EA-31227185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2571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3D2AB-B70B-426B-B834-C9BFB688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67657-383C-46D5-9EBD-86FBFA0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1,087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585B1-E870-4278-8C5F-018F9EF0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Total QC groups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E3A8A-8FE9-4A99-9777-BFB4B257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2571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980C1D-E630-4286-9628-7E701F3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49D77-BB7F-4ED1-882E-5C300B53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838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15E7C3-4916-44B6-9A0E-15DD6754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Validated groups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9A823-F4EA-413E-A158-E53C4C38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571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936ED-7287-43A5-858C-FA4F18D6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B251F-2A8F-4FAF-B8DE-8E2CA7E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249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1F98F-4597-4269-AE6C-59900E3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Inconsistent groups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603A1-46A8-452C-8EDF-A64135AA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571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AC965-412B-4FA6-8A5C-3ACB98F6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E5055-6F9D-41DF-827D-50D03DE6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22.9%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C4CB82-9EEE-4FC2-912B-2DF7FDC2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Inconsistent share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050E22-BEB1-4E36-8716-6C3A5C2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54102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8DA64-10BA-4E39-A87C-D866DB2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571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1C1A19-1686-4D00-8E88-3EDBD07A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5105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Different working-hour values inside the same vessel-call x equipment group were excluded - not silently averaged.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A82077-9E6A-402E-BD46-EEFC6F1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911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VALIDATION LOGIC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8FB1AF-2732-437C-AC0D-29D0B12A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483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Group -&gt; count distinct hours -&gt; validate only when count = 1</a:t>
            </a:r>
          </a:p>
        </p:txBody>
      </p:sp>
    </p:spTree>
    <p:extLst>
      <p:ext uri="{BB962C8B-B14F-4D97-AF65-F5344CB8AC3E}">
        <p14:creationId xmlns:p14="http://schemas.microsoft.com/office/powerpoint/2010/main" val="12378177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6F438-DBFD-4497-AF6A-71D64066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8C8DF-6B85-4E64-AE11-33520021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631F9-0621-4EAB-A55E-3C7271C3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FA207-A70B-491F-BB29-BD721061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57987-9ACA-44FF-A694-49A9D134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BA529-E07C-41F5-B5C9-16BBB5A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OPERATOR CONCENTRATION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E5BFF-8467-487D-B36F-612A59E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8F0B1-DE70-464B-8B73-F95A1BD4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0A7B2-94EF-48CB-B04B-E0C3F2A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31738-CB17-466B-9A8B-792D58F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5A81E-B92F-4283-A9D4-D9C6D647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3D5BD-579C-4491-BC56-CDBEC39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61F40-7217-4296-9EF3-14D67286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B2F7B-B932-4A2C-BB4D-7AF81AE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1A65C-E893-4413-94D1-DCF2A1E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 Small Carrier Group Drives a Large Share of Terminal Workload.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504FE-D3B9-4106-8170-8E8C22C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91B2E-5CB8-45FA-842D-761CE3F7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B09A9-39C1-4D57-A878-D1403FA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9DA2F-6014-44D6-BBCE-4816684D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3962400" cy="4381500"/>
          </a:xfrm>
          <a:prstGeom xmlns:a="http://schemas.openxmlformats.org/drawingml/2006/main" prst="roundRect">
            <a:avLst>
              <a:gd name="adj" fmla="val 1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ad97b0c5f4ab3"/>
          <a:stretch xmlns:a="http://schemas.openxmlformats.org/drawingml/2006/main"/>
        </p:blipFill>
        <p:spPr>
          <a:xfrm xmlns:a="http://schemas.openxmlformats.org/drawingml/2006/main">
            <a:off x="628650" y="1816822"/>
            <a:ext cx="3905250" cy="3853006"/>
          </a:xfrm>
          <a:prstGeom xmlns:a="http://schemas.openxmlformats.org/drawingml/2006/main" prst="roundRect">
            <a:avLst>
              <a:gd name="adj" fmla="val 97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8B55D-7129-4DCB-9ECF-5BFD84E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19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THE LEADING GROUP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C189E-01D9-4EA0-9749-200497CB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F11B3-4028-41FD-BF54-13B099B6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145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MSC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CBCB5-AB00-4DE6-9F7C-96067A5A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A38E3-5391-4770-876C-7E8C203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527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A2551-2CC0-4E15-9846-FAA7084C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95625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COE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EFBA4-E722-49BD-AD14-48D67AF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48025"/>
            <a:ext cx="37909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FC917-CED8-42DE-B1FA-6791E2DC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33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846B1-528A-484C-8FB1-13D444E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7670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9022B-4B9F-45D8-8059-3769E298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3429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B3119-4637-4FB2-AC6A-C11C4AA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67300"/>
            <a:ext cx="619125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E42934-5D52-490E-90E3-B1A64766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67300"/>
            <a:ext cx="571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1ACBD5-DEF7-4282-9D08-DCFC499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81600"/>
            <a:ext cx="588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 limited group of operators strongly shapes terminal workload and planning demand.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625FBF-E9AF-4D9D-9E3E-198D1DEE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115050"/>
            <a:ext cx="577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Use operator segmentation to frame workload, schedule, and service-level reviews.</a:t>
            </a:r>
          </a:p>
        </p:txBody>
      </p:sp>
    </p:spTree>
    <p:extLst>
      <p:ext uri="{BB962C8B-B14F-4D97-AF65-F5344CB8AC3E}">
        <p14:creationId xmlns:p14="http://schemas.microsoft.com/office/powerpoint/2010/main" val="63599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3C75F9-F989-4351-8B33-2024052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4CFB2-1AF1-4768-941C-6B8FD26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CF175-12CE-4572-B85E-700DF8F2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443CB-EA1A-4C23-BE73-7560DEE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F8CA5-A09E-4B83-A73D-6DFEF60B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2CFD1-1F51-4DB9-9DDA-B5EA57A1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PORT CONNECTIVITY &amp; TRADE 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09F40-5530-48D9-82C5-519FCC87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1DD5A-54EC-4413-882E-E9089228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DB1A5-05BF-4BBE-9315-09A9739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A77B3-39A4-4C96-8456-288A3852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FDEB7-1FD0-4B51-9046-AD5CFCB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50F62-9952-40F3-B381-AF890F3C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02E0E-8C9B-4899-A3E3-2F99E671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92CC3-8F55-455F-B221-FDFC2C3A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A1AAA-F0B0-4190-9AE7-48F8919F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118 Trade Lanes Connect 21 Countries - But Volume Clusters Around a Few Ports.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33772-1470-4B0A-BC39-45733F17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34847-0CE5-4FBA-A493-9B1F29FE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8E4A5-AB8B-4921-BBDB-C0500DA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3EEBD-D650-4B4A-B4CB-1BE3F86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000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4857D-FDBC-4C29-8DEC-F53AB059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BF928-40EC-474D-BC02-883A91A4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859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POD regions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D7BD5-77ED-4790-8E9F-3CB85D9E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24000"/>
            <a:ext cx="2000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CBB59-EE36-44A7-A017-A8541282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5735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F7DA6-9210-4073-BCA9-4EC5130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859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POD countries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D6511-2565-4B79-AFE7-A336B3F3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24000"/>
            <a:ext cx="2000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F529D-B98E-410B-A3FC-A782D7B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5735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14E5C-5486-4D47-BEFD-488B185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6859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Discharge 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A037B-D0B0-456E-BA4E-D43D81FD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24000"/>
            <a:ext cx="2000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906D48-A5FD-49A5-B371-5E72123E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5735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118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DBA8A-0CD5-4ADF-854E-1164D13B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859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Trade lanes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1A1F4B-A60F-4E0B-801A-E6D71EA8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000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AF474-D867-4AC5-AFC1-4DB406F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573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158.09K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91007C-75DD-4138-B149-852B16F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859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TEU exited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E5D56-908D-40F8-83C7-156C92F3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6300" y="3095625"/>
            <a:ext cx="24098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659082-7885-455A-A0D6-5AA4A7E5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238375" y="2714625"/>
            <a:ext cx="1047750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F046DE-3E65-4E27-8B47-28207EA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286125" y="2905125"/>
            <a:ext cx="1476375" cy="1400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1063DE-683B-4DB1-BC6B-EC454C06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286125" y="3476625"/>
            <a:ext cx="2905125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AFEA93-EE64-4604-8473-95578849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86125" y="4305300"/>
            <a:ext cx="285750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0376CE-960E-4794-8633-B209A205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286125" y="4305300"/>
            <a:ext cx="140017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9A4F7C-CC74-426B-8600-C16EF5B4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95500" y="4305300"/>
            <a:ext cx="1190625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504CB9-87B8-4D7C-AC62-3D632C9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8200" y="4305300"/>
            <a:ext cx="2447925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3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37EA75-F648-4B82-B9A9-AB13447A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290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E524C9-47D5-4F18-B7A6-C3BFDA69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29075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DAMIETTA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5C379A-A672-4750-92EA-BA2C74BF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4F0CB7-E6CE-4ADC-A918-A155CDCC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52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Piraeus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4C8584-79FB-454E-ADF7-825637E6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AE0E1D-FF92-49F7-8735-9DBC771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71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Novorossiysk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BC17F7-68D1-41F2-9FB0-49386C99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33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DED8CD-A3BA-44F3-A3B4-41408F6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623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Antwerp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C2E10A-7C97-4B6B-9EFD-494F9AAC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05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E3CCFF-49FD-4C8F-9F33-6123316A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33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Hamburg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9AF77B-02C7-4A9E-BF2F-370583E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924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DF1065-2980-4590-B360-4DB7B381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3530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Rotterdam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80DCAF-F57C-4838-91DA-FA0E1BA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62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C15D4A-528D-4D77-8BFC-900F9AE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912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Ashdod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4B8006-560D-4D62-8A47-326E26FE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27D340-EFC6-4AE5-811B-BD4D677E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674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Mersin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1F7275-F492-4CE7-A4CD-711D382C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73221B-8483-4E5C-871A-EAAADF2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3816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Salerno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C7D7F1-D59B-4674-A1F0-36223014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1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900" b="0" i="1">
                <a:solidFill>
                  <a:srgbClr val="5E6C80"/>
                </a:solidFill>
                <a:latin typeface="Aptos"/>
                <a:ea typeface="Aptos"/>
                <a:cs typeface="Aptos"/>
              </a:rPr>
              <a:t>Abstract network view - not to geographic scale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4DF814-2C4D-4001-AE13-A7CB080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TOP DISCHARGE PORTS BY TEU EXITED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15A956-4CB1-4CF7-B1E7-F2D31C7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28925"/>
            <a:ext cx="3390900" cy="331470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5a776f6c44db7"/>
          <a:stretch xmlns:a="http://schemas.openxmlformats.org/drawingml/2006/main"/>
        </p:blipFill>
        <p:spPr>
          <a:xfrm xmlns:a="http://schemas.openxmlformats.org/drawingml/2006/main">
            <a:off x="8001424" y="2857500"/>
            <a:ext cx="3047151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</p:spTree>
    <p:extLst>
      <p:ext uri="{BB962C8B-B14F-4D97-AF65-F5344CB8AC3E}">
        <p14:creationId xmlns:p14="http://schemas.microsoft.com/office/powerpoint/2010/main" val="19522463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1DB43F-B0BD-49B6-AE96-DADEE325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AE90F-9AD2-411B-9F8C-11AE417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11E00-B56C-4F57-89A2-A51C415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384DE-0A32-4EB7-848D-299DC030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B3C19-DF6D-4961-A599-5C9209F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FF8CF-0212-4991-B54F-795C55A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CARGO + DWELL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ED9CD-95F0-45E6-9450-0DE9B671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17D1F-D41D-476F-8A78-16BE8698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2D23B-C8C9-4E1F-82B0-7C90BCB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A94A0-7D48-4CE9-B805-6949D4C8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09BD8-E396-4192-9CF2-0E57747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C1229-96C8-4834-8D0C-83925FF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16E21-7CD1-473E-A08D-C53BBA5D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89375-6A64-4331-870C-531D037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A83BB-ACFA-4EAA-B25E-72EC55B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09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Cargo Volume Is Concentrated - Dwell Pressure Comes From a Different Mix.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31355-8954-4E3B-8CB8-74F2D7CC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0B0E7-8E69-42BC-8CF0-071E8F4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F496E-6C12-423E-85D6-F076A02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85493-D0FE-40B0-A733-8A3912B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VOLUME MIX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D65FE-FB84-42B6-B47C-31D19420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667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70321-8BFF-4464-B16F-2AE113E1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General Dry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05C7F-864F-401D-AA82-564EB22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57425"/>
            <a:ext cx="2571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33434-1E87-4507-A49B-3178D4C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621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111.6K TEU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ACF1C-AA55-426B-9030-E5C253A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Refrigerated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8C7186-AB9E-43E5-B15B-DA02EAA5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19425"/>
            <a:ext cx="12668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5DECE-A468-4C42-B504-C537186E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241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54.9K TEU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35198-D044-4C25-B06C-35A97BF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Virtually all visible TEU volume sits in these two container types.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4FC46-5E0C-4C1A-A91A-C6C81FA2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HIGHER-DWELL COMMODITIES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EFED6-B5AA-4482-BF8D-8536200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4095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7044E-D489-4135-91EE-023781D6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Reinforced Iron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6B1DC-33E6-4428-84BE-28841B7F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383857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2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A1910F-CD90-47E9-9615-EEFA95C8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8A3A8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A3A8F"/>
                </a:solidFill>
                <a:latin typeface="Aptos"/>
                <a:ea typeface="Aptos"/>
                <a:cs typeface="Aptos"/>
              </a:rPr>
              <a:t>Sugar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C7F3F-2624-4624-AF39-1D2599E8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35814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2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CB587E-E6ED-43F0-88E9-4E7DAA73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8A3A8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A3A8F"/>
                </a:solidFill>
                <a:latin typeface="Aptos"/>
                <a:ea typeface="Aptos"/>
                <a:cs typeface="Aptos"/>
              </a:rPr>
              <a:t>Potatoes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FDC87-788F-480F-AB2C-CAE4627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33242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2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5B58E-1F51-4802-88E9-99C51080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8A3A8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A3A8F"/>
                </a:solidFill>
                <a:latin typeface="Aptos"/>
                <a:ea typeface="Aptos"/>
                <a:cs typeface="Aptos"/>
              </a:rPr>
              <a:t>Sensitive 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6C102E-3CAB-46CF-A05E-CCE56C0A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30670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2E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616D24-01CC-4BF8-8266-5673051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8A3A8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8A3A8F"/>
                </a:solidFill>
                <a:latin typeface="Aptos"/>
                <a:ea typeface="Aptos"/>
                <a:cs typeface="Aptos"/>
              </a:rPr>
              <a:t>Wood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B8BB1-F711-4422-AF0E-D974F04A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81150"/>
            <a:ext cx="5600700" cy="2171700"/>
          </a:xfrm>
          <a:prstGeom xmlns:a="http://schemas.openxmlformats.org/drawingml/2006/main" prst="roundRect">
            <a:avLst>
              <a:gd name="adj" fmla="val 6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37bdc3266465a"/>
          <a:stretch xmlns:a="http://schemas.openxmlformats.org/drawingml/2006/main"/>
        </p:blipFill>
        <p:spPr>
          <a:xfrm xmlns:a="http://schemas.openxmlformats.org/drawingml/2006/main">
            <a:off x="6350302" y="1609725"/>
            <a:ext cx="4482496" cy="211455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5E745F-7E92-4801-B3FA-856D689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19550"/>
            <a:ext cx="5600700" cy="2085975"/>
          </a:xfrm>
          <a:prstGeom xmlns:a="http://schemas.openxmlformats.org/drawingml/2006/main" prst="roundRect">
            <a:avLst>
              <a:gd name="adj" fmla="val 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3a32081f84d0b"/>
          <a:stretch xmlns:a="http://schemas.openxmlformats.org/drawingml/2006/main"/>
        </p:blipFill>
        <p:spPr>
          <a:xfrm xmlns:a="http://schemas.openxmlformats.org/drawingml/2006/main">
            <a:off x="7005182" y="4048125"/>
            <a:ext cx="3172737" cy="2028825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52CDF8-77E7-42B8-B3DA-706FB52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15050"/>
            <a:ext cx="5400675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2E4F3"/>
          </a:solidFill>
          <a:ln xmlns:a="http://schemas.openxmlformats.org/drawingml/2006/main" w="14288">
            <a:solidFill>
              <a:srgbClr val="8A3A8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D3922F-69E7-4A56-ABA7-B99E0FA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15050"/>
            <a:ext cx="57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E4716E-1193-4BBC-B181-19A46B1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229350"/>
            <a:ext cx="50958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What dominates volume is not necessarily what dominates dwell risk.</a:t>
            </a:r>
          </a:p>
        </p:txBody>
      </p:sp>
    </p:spTree>
    <p:extLst>
      <p:ext uri="{BB962C8B-B14F-4D97-AF65-F5344CB8AC3E}">
        <p14:creationId xmlns:p14="http://schemas.microsoft.com/office/powerpoint/2010/main" val="6379641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42D712-86B0-456A-AF38-45DE9721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A909D-6703-40AF-A014-E02F2F68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21E29-F4AA-4962-8F55-B9689331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B537D-6BB6-4AD5-BCCC-C3A0FB97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8DC7D-B26B-4032-9D35-31C218B6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3F434-D684-43E1-BF30-FA3C1660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MANAGEMENT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4DFA4-FBB7-4E35-B728-D26351C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2010F-21DB-4125-B2D8-DFFFF3E4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A5D39-C695-4575-9A77-6B1C4C18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A86AC-8C46-4557-BCC0-1960BF4F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39C6D-1C7F-44AE-8D8B-998D5EEB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742F9-018F-416E-86D4-3BD92E5B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B0C44-96BA-443A-8335-C035D6A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74FC3-5546-4B37-AA85-D6BFAEDB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0F554-3972-43B9-AFF3-52385A49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Four Operational Levers Can Turn Visibility Into Performance.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62BB9-990E-4802-B074-AC80519C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8D72D-52A8-420A-9CF3-8A3FAC43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793FF-985B-483E-919D-01BEDE3A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10F89-4F3D-4283-839E-1A4AFE43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123950" y="3667125"/>
            <a:ext cx="9753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B633C-2754-41CE-B2E5-8583EC7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762125" y="342900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3A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A3F5A-462A-4E67-8153-2D3803D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24375" y="3667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A5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525B9-BA41-4A33-B5E4-8526CF9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286625" y="3429000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B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02625-F2A5-4FDB-8C09-E22789CC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048875" y="3667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4C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3CACF-E472-4AAF-A5CE-6834FFE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238375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3A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0C45C-23CB-4E20-AF0B-8750D883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F96E0-5D25-435F-921B-24ED74F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9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033AC-84BE-4260-B8FD-E28A683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62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CONTROL THE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LONG-DWELL TAIL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BE116A-8397-4F2D-ADC4-1759DAF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185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Exception monitoring for containers, commodities, and routes beyond defined thresholds.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E5BD3-D4E6-445D-8B3D-76562B9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2238375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2DDDA-58F7-4C1F-B501-C4E0DAD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95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D4595E-30E5-45F6-94B8-C6AD96C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433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4243F-1FEC-4540-B7D0-559DA466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957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INVESTIGATE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PRE-BERTH WAITING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33FFF-4593-4B74-BED6-8E4E499B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91075"/>
            <a:ext cx="185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Break waiting down by operator, call, arrival timing, and berth sequence.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C01F9-E675-48BA-97FD-BE0A65A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238375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2248EC-0847-4EC4-B847-5F5C323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63B6A1-4E1C-4DD2-B35B-92E6834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9FC4F0-4DDA-42A4-B2B8-60DCAAED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BALANCE CRANE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WORKLOAD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9F44EA-D4F6-4AFA-A9E7-1397B7C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185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Use workload and validated productivity together before changing allocation.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5C8547-F894-4724-9F05-55AD7C6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2238375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4C4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13D6CC-4BA0-4751-9894-FADBE3E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DA2F6-6124-467A-80BA-7B0915FD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433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5CDD5C-123D-41D4-AF44-41B388B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957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C94C4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C94C4C"/>
                </a:solidFill>
                <a:latin typeface="Aptos Display"/>
                <a:ea typeface="Aptos Display"/>
                <a:cs typeface="Aptos Display"/>
              </a:rPr>
              <a:t>FIX QC LOGGING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75" b="1" i="0">
                <a:solidFill>
                  <a:srgbClr val="C94C4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C94C4C"/>
                </a:solidFill>
                <a:latin typeface="Aptos Display"/>
                <a:ea typeface="Aptos Display"/>
                <a:cs typeface="Aptos Display"/>
              </a:rPr>
              <a:t>QUALITY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AB5963-5ADC-4505-AF21-FDDD2395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91075"/>
            <a:ext cx="1857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Investigate the source of the 22.9% inconsistent QC-group rate.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961A89-6F63-4875-8D8D-EBBFADD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867400"/>
            <a:ext cx="47815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D9F2EC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FB3E52-F570-4139-ADE4-C3DE8130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86740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4DE211-0972-402D-A49C-217F1DC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981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Investigate -&gt; validate -&gt; act -&gt; measure again</a:t>
            </a:r>
          </a:p>
        </p:txBody>
      </p:sp>
    </p:spTree>
    <p:extLst>
      <p:ext uri="{BB962C8B-B14F-4D97-AF65-F5344CB8AC3E}">
        <p14:creationId xmlns:p14="http://schemas.microsoft.com/office/powerpoint/2010/main" val="9819834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6A5D74-FB9C-4CDA-AB29-7A8E0AFB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A9EC5-F546-4596-B45F-E853862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AD28C-ABD4-4060-A0B4-3F926982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72BE8-0807-4090-9EF0-E811CC6A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58719-D9BA-4BA2-BBDE-7311E388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182E1-26B6-4A6B-9DDA-09E3623A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SCOPE + REPORTING 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2DDCE-4CA2-4DD0-9D8F-12503060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6986D-3F51-457B-A1D0-94476B3D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42C9F-6BDB-49E4-9FB4-886AED40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30A06-E65D-471B-85E1-103BC9D0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E9D40-6CE0-4DFD-8C9B-1C7C4BF3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3639E-FA1C-4B04-ABF2-DF89052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F4804-9234-4E09-B24E-780F006F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061C9-D36E-4F9C-B40C-DC591FD0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7A17B-105C-42EC-B1B3-BBFBD1FB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Strong Decisions Start With Clear Boundaries.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43D78-7373-4F28-8DBC-EBC65E5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2BA23-05A0-48DC-89AA-C25B620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82F3A-E1DD-424F-AB31-B8811E41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B58F9-9DA2-4AEC-9DFD-493FFC7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55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8635C-39D6-4560-8B68-A2A15EEB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43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83D01-2798-4CAC-902A-9BF899C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6DABD-C050-48D7-BDE8-6F16550C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62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Comparison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D17CA-E2EF-4695-8FF1-4E30A6CF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Q1 2025 versus Q1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4D59D-B4D9-4E09-B006-827954AC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55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8454A-F779-4F88-9C0A-A9B7DDAA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71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814E4-6DCB-4A7D-B7DE-68137BA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87E54-9C47-4E28-97FB-53E3A2F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90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Container cohort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2BB80-90C4-4765-8247-159F47A1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A Q1 entry can exit after the quarter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AEBEF2-6AA4-4092-B361-3A9B796D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055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3D4D30-A02E-4396-AF09-412A3252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9708F-5565-4CE1-80F8-F9B11EE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57B87-90B8-4BFD-BFB2-4AC4CB43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19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Vessel detail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AA08D-685C-4280-95AD-B8C16BEC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Selected vessel-call records, not every terminal call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4F498-2040-417E-B960-6ED0D19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55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3B69D7-51FD-4F7D-90FC-549D6089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A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FBCC3-E348-4FD6-A207-E8442EC1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D7EDD2-A3DD-4A63-A183-1840ACE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Interpretation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B0FC41-300A-42BA-81D4-703AA3C4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482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Timing patterns and correlations are not automatically causes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37532E-ECF8-4E91-9CC1-74F92C71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055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6C9E36-FAD4-4982-810C-3A35200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318BF8-274E-4D5D-B82D-57E8015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6DECB-3559-47F0-BD05-BE599303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769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Benchmarking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99C2FF-E57B-447E-921F-0F02E43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769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No external benchmarks were required for this case study</a:t>
            </a:r>
          </a:p>
        </p:txBody>
      </p:sp>
    </p:spTree>
    <p:extLst>
      <p:ext uri="{BB962C8B-B14F-4D97-AF65-F5344CB8AC3E}">
        <p14:creationId xmlns:p14="http://schemas.microsoft.com/office/powerpoint/2010/main" val="19304055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5879F2-4454-4CFB-B418-C16D989C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D9EE5-0E6C-46AF-9349-B00A662C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92F24-27D5-4BBC-92C6-A24AED60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2AD8-2001-4D14-AB19-D0EE711D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406D4-5AFD-4328-B2D6-1D330ECC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7EC79-4A3B-44C4-BBB8-961F1713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33DAB-3AA3-423C-9C97-0053616F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700C3-403F-414A-B703-0036EE76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DBE3-7E3B-4DAE-8C4A-11138845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FA0CA-1071-40D2-A754-E6C6BBB8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04534-13DE-494F-8E87-A1DD3C4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8795A8"/>
                </a:solidFill>
                <a:latin typeface="Aptos Display"/>
                <a:ea typeface="Aptos Display"/>
                <a:cs typeface="Aptos Display"/>
              </a:rPr>
              <a:t>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26D46-33C1-4D16-9766-447E405E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0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D07B7-F7EA-48D8-8024-2325639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20C4A-06E8-4D16-8030-FC8F8EA2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28625"/>
            <a:ext cx="495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BB961-AC23-4C7A-BC80-AB64122C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From Raw Records to Operational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35EDB-9AAC-4389-B1EE-D9B1BEB1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03F1A-CC38-4B95-9694-5EEFB6E4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7F0E6-99AF-43E9-B2FE-32967E85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4CD62-128B-463E-973E-AE769F4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33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ADF47-1ECD-4F7A-A9EC-768A810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E45DA-90A9-458C-A46C-3222640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+4.5%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0D522-ACB1-4ED6-9267-97918FA8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TEU entered in Q1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ABC7B-CDB7-4054-86ED-505C7133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533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A3A8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BF375-AF3C-48D2-BB65-88E3D09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66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05F27-CA4F-4AF0-A51C-2EA500A4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716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8A3A8F"/>
                </a:solidFill>
                <a:latin typeface="Aptos Display"/>
                <a:ea typeface="Aptos Display"/>
                <a:cs typeface="Aptos Display"/>
              </a:rPr>
              <a:t>4 / 6.6 / 13.2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5AD0C-743A-4E5A-93FD-FA48ED6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Median / average / P90 dwell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9EA37-39B9-4FFC-941B-18608AB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2533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0A5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51CF3-6919-4398-A844-A66064B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968F2-9E9D-432D-AAAC-D65EEC94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0A53A"/>
                </a:solidFill>
                <a:latin typeface="Aptos Display"/>
                <a:ea typeface="Aptos Display"/>
                <a:cs typeface="Aptos Display"/>
              </a:rPr>
              <a:t>48.5%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CF312-5314-41B2-9FCB-22B9886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Tracked turnaround before berthing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71536-1B62-4E7D-8610-46C0A68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25336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0BB965-E1A3-4CD7-810C-AD9162C0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66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A26E6-6B41-4BA4-883C-2E6FC435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7167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QC10 + 22.9%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24409-2E64-4D29-9FD7-A49036DF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Workload concentration + QC-hour inconsistency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0D4AF9-0107-48C1-A6D5-4458D931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C876C9-B584-473A-9487-ADCE600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91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30EAA6-0C8C-401C-B11A-2EEFF715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91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0A811A-4628-441D-BF71-9493C82F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91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56029-77DD-4031-89EE-338BC1E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910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D5B666-334B-4B58-80F2-581FF53C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A78E30-6B4A-474E-A79F-35E271F2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RAW DATA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D3EB28-D91C-48C1-8E80-BF6226C0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57625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42B26C-EF1B-4D9C-B5E4-DE39F17E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100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TRUSTED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PREPARATION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9829BB-08C9-4A31-9736-ACBF728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7825FE-EAC1-4DA4-A841-EFD0C386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100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GOVERNED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446162-2A04-440A-AF5A-D2818275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57625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23E0D1-3480-4910-A0EB-FAF1FB16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100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VALIDATED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KPIs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8A437D-4871-47F0-B7E0-8FA74207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57625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738361-9C86-49F1-995E-3A49F230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OPERATIONAL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INSIGHTS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623883-842D-482B-9CA5-FC7A64E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57625"/>
            <a:ext cx="1466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9F2EC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42632A-730D-416E-8B34-B3032A8C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100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E1935B-D6FF-44F1-924A-5038E30E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86375"/>
            <a:ext cx="9944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6E55A0-C89E-4A85-A6C0-46AA6BC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86375"/>
            <a:ext cx="571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4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B0043E-A721-4AE6-ADEC-BC685703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00675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project transformed fragmented operational records into a governed decision-support system for terminal performance.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808BCB-AF2E-4989-84A1-83F106CF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1722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65433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166E1-F768-4DCD-A6AE-53226E91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5A0E9-7986-4B79-832C-1993F30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DEFCE-D5CA-40A4-9149-911BB2BB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28457-4456-4A38-BA9E-3C0EF3A5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5151-B137-465F-8F89-A558FB8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DC5CF-115D-41B8-9EBB-F0A459B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OPTIONAL 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A61FD-F29B-4823-8040-46B5D8E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Appendix A - Weight Profile and 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FB80C-6034-44EA-9FBB-4855B39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84F60-E636-4FAC-91D4-FFE6B85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D1EBC-074D-4815-ABE4-C82B525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2EFF8-A56B-4962-9C09-82161AF7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0175"/>
            <a:ext cx="8686800" cy="49149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47d38d1dc4bd6"/>
          <a:srcRect xmlns:a="http://schemas.openxmlformats.org/drawingml/2006/main" l="0" t="361" r="0" b="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28750"/>
            <a:ext cx="8629650" cy="4857750"/>
          </a:xfrm>
          <a:prstGeom xmlns:a="http://schemas.openxmlformats.org/drawingml/2006/main" prst="roundRect">
            <a:avLst>
              <a:gd name="adj" fmla="val 274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555BC-D030-4D61-9FEA-B3B522D3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428750"/>
            <a:ext cx="2038350" cy="48577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0C71C-034F-4478-9BDA-8FB93EFC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WEIGHT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08164-00F9-48FC-B7A6-25E99760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81275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622B3-F7CA-4A95-A875-0EBD0C6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24175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DCE6F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DCE6F5"/>
                </a:solidFill>
                <a:latin typeface="Aptos"/>
                <a:ea typeface="Aptos"/>
                <a:cs typeface="Aptos"/>
              </a:rPr>
              <a:t>Use for relative workload and completeness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61D22-033B-4FED-AF44-25296016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43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A5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0A53A"/>
                </a:solidFill>
                <a:latin typeface="Aptos"/>
                <a:ea typeface="Aptos"/>
                <a:cs typeface="Aptos"/>
              </a:rPr>
              <a:t>SOURCE UNIT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FDAA9-9F52-4F1D-8549-09DFB26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81525"/>
            <a:ext cx="1581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conversion to kg, tonnes, or another business unit.</a:t>
            </a:r>
          </a:p>
        </p:txBody>
      </p:sp>
    </p:spTree>
    <p:extLst>
      <p:ext uri="{BB962C8B-B14F-4D97-AF65-F5344CB8AC3E}">
        <p14:creationId xmlns:p14="http://schemas.microsoft.com/office/powerpoint/2010/main" val="116175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7795D-F0B5-4025-8D5C-C0E7755F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E47A4-F430-4BB9-8D40-DA18BD4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4F245-C4EC-46F0-A7C9-D8E0F81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77881-FBAE-4DF7-8814-F5D1CB58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185A4-F8B9-4E25-ABFB-6B245FE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DAC9F-9B66-4084-BBDD-2A0C76DF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OPTIONAL 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1690F-927B-4A72-834C-B65F7073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Appendix B - Traceability to Container-Level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4B36D-CF8B-48F3-AD03-293B4F4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A0D78-1F3C-4026-AB20-A7B4029B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FE311-B7BD-474B-9297-22F1EDAB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86777-2929-4FAB-904D-25C317BD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47800"/>
            <a:ext cx="110109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7254dbc784726"/>
          <a:srcRect xmlns:a="http://schemas.openxmlformats.org/drawingml/2006/main" l="0" t="15620" r="0" b="156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76375"/>
            <a:ext cx="10953750" cy="42672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2FEA5-4B59-4ADB-A67E-981DEA6A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8763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4DC03-459A-47C5-AA33-0F80A5F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34075"/>
            <a:ext cx="571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E6465-FF94-4829-8FDC-567B494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48375"/>
            <a:ext cx="845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Executive KPI -&gt; filtered visual -&gt; row-level container lifecycle</a:t>
            </a:r>
          </a:p>
        </p:txBody>
      </p:sp>
    </p:spTree>
    <p:extLst>
      <p:ext uri="{BB962C8B-B14F-4D97-AF65-F5344CB8AC3E}">
        <p14:creationId xmlns:p14="http://schemas.microsoft.com/office/powerpoint/2010/main" val="18213301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3D402F-FF70-47EF-B575-60E33A5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94466-1593-4556-8280-D4B2D04B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172"/>
            <a:ext cx="85344" cy="3467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F05FF-9A0B-4BBD-8856-D6A93540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" y="209169"/>
            <a:ext cx="85344" cy="58674"/>
          </a:xfrm>
          <a:prstGeom xmlns:a="http://schemas.openxmlformats.org/drawingml/2006/main" prst="roundRect">
            <a:avLst>
              <a:gd name="adj" fmla="val 32468"/>
            </a:avLst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C7A61-1A9E-4EF9-B4A5-7CFF3C7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" y="190500"/>
            <a:ext cx="85344" cy="77343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AFC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A2F5-0FC5-4E57-A3BB-5A185D2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10718" y="283845"/>
            <a:ext cx="2720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334">
            <a:solidFill>
              <a:srgbClr val="2F5B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E896D-AF93-4C29-AF8A-CC918B8A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5E6C80"/>
                </a:solidFill>
                <a:latin typeface="Aptos Display"/>
                <a:ea typeface="Aptos Display"/>
                <a:cs typeface="Aptos Display"/>
              </a:rPr>
              <a:t>OPTIONAL 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E614E-2FB5-421B-A9B6-8032EC07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109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 i="0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Appendix C | Technical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D2183-3A41-4256-876B-9D202A52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10688-1096-4312-8515-B7E7EF9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09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0F81F-142E-41EB-9102-26BD7D6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795A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795A8"/>
                </a:solidFill>
                <a:latin typeface="Aptos"/>
                <a:ea typeface="Aptos"/>
                <a:cs typeface="Aptos"/>
              </a:rPr>
              <a:t>DEPI DATA ANALYSIS GRADUATION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AE652-301B-4BEF-B14D-021BAA29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333750" cy="43815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6CDDD-8E48-4E64-B4D5-6FE13A1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2F5BB7"/>
                </a:solidFill>
                <a:latin typeface="Aptos Display"/>
                <a:ea typeface="Aptos Display"/>
                <a:cs typeface="Aptos Display"/>
              </a:rPr>
              <a:t>POWER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E156E-1ED0-42F5-BA35-95FFB643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333750" cy="43815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4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10726-41B3-4395-B967-BB61FACA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83459"/>
                </a:solidFill>
                <a:latin typeface="Aptos Display"/>
                <a:ea typeface="Aptos Display"/>
                <a:cs typeface="Aptos Display"/>
              </a:rPr>
              <a:t>SQL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D946F-FDEC-482D-8E84-797F989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333750" cy="43815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BA9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803F5-02BE-4A73-8337-6632DDFE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2BA992"/>
                </a:solidFill>
                <a:latin typeface="Aptos Display"/>
                <a:ea typeface="Aptos Display"/>
                <a:cs typeface="Aptos Display"/>
              </a:rPr>
              <a:t>PYTHON QA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9C039-12A7-4677-9CF8-39C90129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Transform example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F5727-F9C9-43EC-86EF-86157C70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Table.TransformColumnTypes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Table.RenameColumns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Text.Trim / Text.Clean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Table.SelectRows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Table.AddIndexColumn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D8C71-7D2E-4F20-9CAF-3AF2B156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Derived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019D0-FF4F-4C0E-9481-DE4A313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SourceRowKey | UnitCount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CompletedDwellDays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F5BB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5BB7"/>
                </a:solidFill>
                <a:latin typeface="Aptos"/>
                <a:ea typeface="Aptos"/>
                <a:cs typeface="Aptos"/>
              </a:rPr>
              <a:t>DateSequenceStatus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6A087-686A-4F82-9F71-9B2DA97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Safe structural example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928FC-E435-447C-885A-4477D9AB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914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txBody>
          <a:bodyPr xmlns:a="http://schemas.openxmlformats.org/drawingml/2006/main" wrap="square" lIns="133350" tIns="133350" rIns="1333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WITH Calls AS (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  SELECT VesselCallKey,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         COUNT(*) AS Moves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  FROM FactContainerOperations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  GROUP BY VesselCallKey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10233F"/>
                </a:solidFill>
                <a:latin typeface="Consolas"/>
                <a:ea typeface="Consolas"/>
                <a:cs typeface="Consolas"/>
              </a:rPr>
              <a:t>SELECT * FROM Calls;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68094-F543-4043-B1FC-2772FD8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8345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83459"/>
                </a:solidFill>
                <a:latin typeface="Aptos"/>
                <a:ea typeface="Aptos"/>
                <a:cs typeface="Aptos"/>
              </a:rPr>
              <a:t>Keys | type alignment | ERD validation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83459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83459"/>
                </a:solidFill>
                <a:latin typeface="Aptos"/>
                <a:ea typeface="Aptos"/>
                <a:cs typeface="Aptos"/>
              </a:rPr>
              <a:t>joins | CTEs | window functions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4DFEF-5009-47EA-9F2C-310278D2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C8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E6C80"/>
                </a:solidFill>
                <a:latin typeface="Aptos"/>
                <a:ea typeface="Aptos"/>
                <a:cs typeface="Aptos"/>
              </a:rPr>
              <a:t>Supplementary workbook QA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EE08B-2379-443E-9985-B4A55597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81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6AB55-BB67-4855-B801-9A0E9617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24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Check file and sheet availability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6CF6E-D245-4EBC-BA62-55A38759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DCB34-972A-4E07-81C6-BEAEF59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71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Read multiple sheets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9EAE7-E713-4670-B0C7-E75FA92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550FB-F3CD-40F2-BB15-7B4E011C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194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Remove completely blank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277004-17C0-43FA-911B-AEDE0130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24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5DD65-C308-402F-9A42-7FC083FC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67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Trim text case-insensitively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6934DD-986C-42B5-B1E1-8B17BAC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71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876631-DAFC-41E5-B31D-7CF0AEC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148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Preserve numeric and date types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24AA54-CFA4-4C50-B383-1383A6A6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19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9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83DDE-6456-487C-8A1B-76D683D5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Write a cleaned workbook copy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CA69A1-A609-4EC1-872C-301F5E11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72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2BA99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A992"/>
                </a:solidFill>
                <a:latin typeface="Aptos"/>
                <a:ea typeface="Aptos"/>
                <a:cs typeface="Aptos"/>
              </a:rPr>
              <a:t>Supporting layer - not the production BI source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8A2460-650B-4E81-B16B-D2C764B0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73342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DCE6F5"/>
          </a:solidFill>
          <a:ln xmlns:a="http://schemas.openxmlformats.org/drawingml/2006/main" w="14288">
            <a:solidFill>
              <a:srgbClr val="2F5BB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C4F1A2-A3ED-4EA1-9F61-BD117CAB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57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B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3BB014-0C78-45A6-9EA9-42618F3A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229350"/>
            <a:ext cx="7029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33F"/>
                </a:solidFill>
                <a:latin typeface="Aptos"/>
                <a:ea typeface="Aptos"/>
                <a:cs typeface="Aptos"/>
              </a:rPr>
              <a:t>Power BI KPIs were governed by the Power Query / semantic-model path.</a:t>
            </a:r>
          </a:p>
        </p:txBody>
      </p:sp>
    </p:spTree>
    <p:extLst>
      <p:ext uri="{BB962C8B-B14F-4D97-AF65-F5344CB8AC3E}">
        <p14:creationId xmlns:p14="http://schemas.microsoft.com/office/powerpoint/2010/main" val="1137224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2026-08-17T18:59:38.4270000Z</dcterms:created>
  <dcterms:modified xsi:type="dcterms:W3CDTF">2026-08-17T18:59:38.4270000Z</dcterms:modified>
</coreProperties>
</file>